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1658f45e5241a6" /><Relationship Type="http://schemas.openxmlformats.org/officeDocument/2006/relationships/extended-properties" Target="/docProps/app.xml" Id="R3a79787420d24ef6" /><Relationship Type="http://schemas.openxmlformats.org/officeDocument/2006/relationships/officeDocument" Target="/ppt/presentation.xml" Id="R7a55719e08b649ea" /></Relationships>
</file>

<file path=ppt/presentation.xml><?xml version="1.0" encoding="utf-8"?>
<p:presentation xmlns:p="http://schemas.openxmlformats.org/presentationml/2006/main">
  <p:sldMasterIdLst>
    <p:sldMasterId xmlns:r="http://schemas.openxmlformats.org/officeDocument/2006/relationships" id="2147483648" r:id="R70aa2a3fdb73480d"/>
  </p:sldMasterIdLst>
  <p:notesMasterIdLst>
    <p:notesMasterId xmlns:r="http://schemas.openxmlformats.org/officeDocument/2006/relationships" r:id="R24a37612b649416b"/>
  </p:notesMasterIdLst>
  <p:sldIdLst>
    <p:sldId xmlns:r="http://schemas.openxmlformats.org/officeDocument/2006/relationships" id="256" r:id="R660bb19e412843c7"/>
    <p:sldId xmlns:r="http://schemas.openxmlformats.org/officeDocument/2006/relationships" id="257" r:id="Rebdd662679b5478d"/>
    <p:sldId xmlns:r="http://schemas.openxmlformats.org/officeDocument/2006/relationships" id="258" r:id="R79e4ecfd35c04a0b"/>
    <p:sldId xmlns:r="http://schemas.openxmlformats.org/officeDocument/2006/relationships" id="259" r:id="R6e028c9f8f7f4634"/>
    <p:sldId xmlns:r="http://schemas.openxmlformats.org/officeDocument/2006/relationships" id="260" r:id="R0248601dff394453"/>
    <p:sldId xmlns:r="http://schemas.openxmlformats.org/officeDocument/2006/relationships" id="261" r:id="Ra3d7f95d584c468f"/>
    <p:sldId xmlns:r="http://schemas.openxmlformats.org/officeDocument/2006/relationships" id="262" r:id="R4436654ce9fa4783"/>
    <p:sldId xmlns:r="http://schemas.openxmlformats.org/officeDocument/2006/relationships" id="263" r:id="R4f1906835f2d4de6"/>
    <p:sldId xmlns:r="http://schemas.openxmlformats.org/officeDocument/2006/relationships" id="264" r:id="R53f37610616c4436"/>
    <p:sldId xmlns:r="http://schemas.openxmlformats.org/officeDocument/2006/relationships" id="265" r:id="R5a0e479a4f394437"/>
    <p:sldId xmlns:r="http://schemas.openxmlformats.org/officeDocument/2006/relationships" id="266" r:id="R1944226c53354a87"/>
    <p:sldId xmlns:r="http://schemas.openxmlformats.org/officeDocument/2006/relationships" id="267" r:id="R3c44336ae0914112"/>
    <p:sldId xmlns:r="http://schemas.openxmlformats.org/officeDocument/2006/relationships" id="268" r:id="R10a450aa732743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eae2abc9c34217" /><Relationship Type="http://schemas.openxmlformats.org/officeDocument/2006/relationships/slideMaster" Target="/ppt/slideMasters/slideMaster1.xml" Id="R70aa2a3fdb73480d" /><Relationship Type="http://schemas.openxmlformats.org/officeDocument/2006/relationships/notesMaster" Target="/ppt/notesMasters/notesMaster1.xml" Id="R24a37612b649416b" /><Relationship Type="http://schemas.openxmlformats.org/officeDocument/2006/relationships/presProps" Target="/ppt/presProps.xml" Id="R112fa454d6624a1f" /><Relationship Type="http://schemas.openxmlformats.org/officeDocument/2006/relationships/tableStyles" Target="/ppt/tableStyles.xml" Id="R6116098a8aa5417f" /><Relationship Type="http://schemas.openxmlformats.org/officeDocument/2006/relationships/slide" Target="/ppt/slides/slide1.xml" Id="R660bb19e412843c7" /><Relationship Type="http://schemas.openxmlformats.org/officeDocument/2006/relationships/slide" Target="/ppt/slides/slide2.xml" Id="Rebdd662679b5478d" /><Relationship Type="http://schemas.openxmlformats.org/officeDocument/2006/relationships/slide" Target="/ppt/slides/slide3.xml" Id="R79e4ecfd35c04a0b" /><Relationship Type="http://schemas.openxmlformats.org/officeDocument/2006/relationships/slide" Target="/ppt/slides/slide4.xml" Id="R6e028c9f8f7f4634" /><Relationship Type="http://schemas.openxmlformats.org/officeDocument/2006/relationships/slide" Target="/ppt/slides/slide5.xml" Id="R0248601dff394453" /><Relationship Type="http://schemas.openxmlformats.org/officeDocument/2006/relationships/slide" Target="/ppt/slides/slide6.xml" Id="Ra3d7f95d584c468f" /><Relationship Type="http://schemas.openxmlformats.org/officeDocument/2006/relationships/slide" Target="/ppt/slides/slide7.xml" Id="R4436654ce9fa4783" /><Relationship Type="http://schemas.openxmlformats.org/officeDocument/2006/relationships/slide" Target="/ppt/slides/slide8.xml" Id="R4f1906835f2d4de6" /><Relationship Type="http://schemas.openxmlformats.org/officeDocument/2006/relationships/slide" Target="/ppt/slides/slide9.xml" Id="R53f37610616c4436" /><Relationship Type="http://schemas.openxmlformats.org/officeDocument/2006/relationships/slide" Target="/ppt/slides/slide10.xml" Id="R5a0e479a4f394437" /><Relationship Type="http://schemas.openxmlformats.org/officeDocument/2006/relationships/slide" Target="/ppt/slides/slide11.xml" Id="R1944226c53354a87" /><Relationship Type="http://schemas.openxmlformats.org/officeDocument/2006/relationships/slide" Target="/ppt/slides/slide12.xml" Id="R3c44336ae0914112" /><Relationship Type="http://schemas.openxmlformats.org/officeDocument/2006/relationships/slide" Target="/ppt/slides/slide13.xml" Id="R10a450aa732743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e8fd1c9c3443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14e5b32a9e4d23" /><Relationship Type="http://schemas.openxmlformats.org/officeDocument/2006/relationships/notesMaster" Target="/ppt/notesMasters/notesMaster1.xml" Id="Ra7979d859c944e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ca36a5b7684960" /><Relationship Type="http://schemas.openxmlformats.org/officeDocument/2006/relationships/notesMaster" Target="/ppt/notesMasters/notesMaster1.xml" Id="R78e23f9ecf6e4c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d7be3ecd974f70" /><Relationship Type="http://schemas.openxmlformats.org/officeDocument/2006/relationships/notesMaster" Target="/ppt/notesMasters/notesMaster1.xml" Id="Ra7d08186db5649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ebeb38412a4685" /><Relationship Type="http://schemas.openxmlformats.org/officeDocument/2006/relationships/notesMaster" Target="/ppt/notesMasters/notesMaster1.xml" Id="R1c1a1604ba21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726f3256a44a8d" /><Relationship Type="http://schemas.openxmlformats.org/officeDocument/2006/relationships/notesMaster" Target="/ppt/notesMasters/notesMaster1.xml" Id="Rcec3c06169cf47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6278c77569489d" /><Relationship Type="http://schemas.openxmlformats.org/officeDocument/2006/relationships/notesMaster" Target="/ppt/notesMasters/notesMaster1.xml" Id="Raf10a176c4984d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06c35b406415a" /><Relationship Type="http://schemas.openxmlformats.org/officeDocument/2006/relationships/notesMaster" Target="/ppt/notesMasters/notesMaster1.xml" Id="Ree9f8a9206d04e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edab06a13a4b5f" /><Relationship Type="http://schemas.openxmlformats.org/officeDocument/2006/relationships/notesMaster" Target="/ppt/notesMasters/notesMaster1.xml" Id="R13d91ea1550041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a21cc698c245b3" /><Relationship Type="http://schemas.openxmlformats.org/officeDocument/2006/relationships/notesMaster" Target="/ppt/notesMasters/notesMaster1.xml" Id="Rb7cea37b464749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062d616c8542ac" /><Relationship Type="http://schemas.openxmlformats.org/officeDocument/2006/relationships/notesMaster" Target="/ppt/notesMasters/notesMaster1.xml" Id="Re8f8f87d9b7549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6400eb2b4c4a60" /><Relationship Type="http://schemas.openxmlformats.org/officeDocument/2006/relationships/notesMaster" Target="/ppt/notesMasters/notesMaster1.xml" Id="Rc1117969a3a34c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c7e7ec2c834de7" /><Relationship Type="http://schemas.openxmlformats.org/officeDocument/2006/relationships/notesMaster" Target="/ppt/notesMasters/notesMaster1.xml" Id="Ra16008cf777e46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25483dff3949b9" /><Relationship Type="http://schemas.openxmlformats.org/officeDocument/2006/relationships/notesMaster" Target="/ppt/notesMasters/notesMaster1.xml" Id="Re74c3ce0f1e34b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policy question. The project quantifies six candidate indicators using supplied official export snapshots. It does not identify causal effects. The presentation and dashboard share one set of definitions.</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recommendation: investigate marriage and first-birth barriers and evaluate existing support using better measures. Several strong level correlations weaken after trend checks. Do not claim five proven causes. The report gives a proposed 12-month evaluation programme.</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source register. CPI accommodation coverage begins in 2005. Actual-rent CPI starts in 2015 and is supplementary. No interpolation. 2026 is incomplete. The household balance-sheet CSV lacks its download timestamp, but matches the official non-seasonally-adjusted M700981 series, including 2026 Q2 assets. TFR, crude birth rate and birth counts have distinct meanings.</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a:p xmlns:a="http://schemas.openxmlformats.org/drawingml/2006/main">
            <a:r>
              <a:t>https://data.gov.sg/datasets/d_7cb92e23305b005daf1cebd9774516d4/view</a:t>
            </a:r>
          </a:p>
          <a:p xmlns:a="http://schemas.openxmlformats.org/drawingml/2006/main">
            <a:r>
              <a:t>https://www.singstat.gov.sg/find-data/explore-data-themes/economy-prices/consumer-price-index/our-data-explained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TFR as a hypothetical lifetime fertility measure under current age-specific rates, not completed cohort family size. 2015 TFR 1.24, 2025 0.87. The relative decline is 29.8387%. Resident live births in 2025: 27,393. Keep this count separate from TFR.</a:t>
            </a:r>
          </a:p>
          <a:p xmlns:a="http://schemas.openxmlformats.org/drawingml/2006/main">
            <a:r>
              <a:t/>
            </a:r>
          </a:p>
          <a:p xmlns:a="http://schemas.openxmlformats.org/drawingml/2006/main">
            <a:r>
              <a:t>Sources: https://tablebuilder.singstat.gov.sg/table/TS/M810091</a:t>
            </a:r>
          </a:p>
          <a:p xmlns:a="http://schemas.openxmlformats.org/drawingml/2006/main">
            <a:r>
              <a:t>https://www.population.gov.sg/media-centre/how-is-the-tfr-calculated/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2015 versus 2025: rates 20–24 fall 18.7 to 8.7, 25–29 68.7 to 38.1, 30–34 98.5 to 69.7, 35–39 49.9 to 46.0, 40–44 rise 8.9 to 9.5. Older-age births do not compensate for the decline in period TFR. No individual postponement claim follows from these aggregates.</a:t>
            </a:r>
          </a:p>
          <a:p xmlns:a="http://schemas.openxmlformats.org/drawingml/2006/main">
            <a:r>
              <a:t/>
            </a:r>
          </a:p>
          <a:p xmlns:a="http://schemas.openxmlformats.org/drawingml/2006/main">
            <a:r>
              <a:t>Sources: https://tablebuilder.singstat.gov.sg/table/TS/M810091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diagnostic. Annual changes are absolute differences, not percentage changes. General prices and rail length lose strong negative associations. The positive debt/assets level correlation cannot support a claim that higher debt caused lower births. Full detrending and sensitivities appear in the report and dashboard.</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 units are: marriage rate per 1,000 unmarried resident women aged 15–49, CPI index points with 2024=100, debt/assets percentage points, and rail kilometres. Slopes cannot be directly ranked because units differ. HAC lag 1 gives approximate intervals. BH adjusts six slope tests within this mode. Marriage has unadjusted interval excluding zero but q around 0.0545. None of these coefficients identifies causal impact.</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largest absolute annual-change correlation among six candidates is marriage formation. The pandemic test drops 2020 and 2021 before differencing and does not bridge the gap, leaving 17 changes. It strengthens the association, but does not replace the main prespecified finding. The crude birth rate sensitivity is about +0.446.</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Ridge uses six lagged indicator values plus calendar year. Standardisation occurs within training folds. Alpha 1 is selected using expanding validation 2016–2020. Each test year is refitted using earlier target years only. The 2025 prediction is 0.9814 versus actual 0.87. Publication delays and historical data vintages are not reproduced. No causal policy simulator is justified.</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owners and evaluation priorities, not empirically proven interventions. Prioritise direct measures and credible evaluation with baseline and comparison groups. The 2026 enhancements already cover child-related leave, financial help, caregiving and housing. Historical observations end in 2025 and cannot evaluate those announcements.</a:t>
            </a:r>
          </a:p>
          <a:p xmlns:a="http://schemas.openxmlformats.org/drawingml/2006/main">
            <a:r>
              <a:t/>
            </a:r>
          </a:p>
          <a:p xmlns:a="http://schemas.openxmlformats.org/drawingml/2006/main">
            <a:r>
              <a:t>Sources: https://www.population.gov.sg/media-centre/helping-singaporeans-start-and-raise-families-with-confidence/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Social and economic impacts are qualitative planning implications here. Do not claim numerical GDP, fiscal cost or dependency-ratio impacts from this dataset. A separate demographic projection would be needed. The policy context comes from the official population discussion.</a:t>
            </a:r>
          </a:p>
          <a:p xmlns:a="http://schemas.openxmlformats.org/drawingml/2006/main">
            <a:r>
              <a:t/>
            </a:r>
          </a:p>
          <a:p xmlns:a="http://schemas.openxmlformats.org/drawingml/2006/main">
            <a:r>
              <a:t>Sources: https://www.population.gov.sg/media-centre/speech-by-deputy-prime-minister-gan-kim-yong-committee-of-supply-debate-2026/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12-month plan delivers actionable early insights rather than promising a fertility reversal in 12 months. Set numerical uptake targets after measuring baselines. Follow fertility transitions beyond month 12. Agency assignments are proposed, not commitments.</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deliverables are mapped in README: sources and CSV extraction, Python notebook and scripts, Streamlit dashboard, report and deck. Dashboard EDA filters change charts and associations. Model backtest stays fixed at 2021–2025 and explains this. Main limitations: small annual sample, aggregate proxies, omitted factors, autocorrelation, reverse causality and retrospective source revisions. Final message: prioritise questions and evaluation rather than causal claims.</a:t>
            </a:r>
          </a:p>
          <a:p xmlns:a="http://schemas.openxmlformats.org/drawingml/2006/main">
            <a:r>
              <a:t/>
            </a:r>
          </a:p>
          <a:p xmlns:a="http://schemas.openxmlformats.org/drawingml/2006/main">
            <a:r>
              <a:t>Sources: https://tablebuilder.singstat.gov.sg/table/TS/M810091</a:t>
            </a:r>
          </a:p>
          <a:p xmlns:a="http://schemas.openxmlformats.org/drawingml/2006/main">
            <a:r>
              <a:t>https://tablebuilder.singstat.gov.sg/table/TS/M830102</a:t>
            </a:r>
          </a:p>
          <a:p xmlns:a="http://schemas.openxmlformats.org/drawingml/2006/main">
            <a:r>
              <a:t>https://tablebuilder.singstat.gov.sg/table/TS/M213751</a:t>
            </a:r>
          </a:p>
          <a:p xmlns:a="http://schemas.openxmlformats.org/drawingml/2006/main">
            <a:r>
              <a:t>https://tablebuilder.singstat.gov.sg/table/TS/M651351</a:t>
            </a:r>
          </a:p>
          <a:p xmlns:a="http://schemas.openxmlformats.org/drawingml/2006/main">
            <a:r>
              <a:t>https://tablebuilder.singstat.gov.sg/table/TS/M700981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d5ec30419f48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9af44cd74d47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066529da3947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b3fe5f95344f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54a37b72af44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ae332d9fb14b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0416D8-15F5-4C7F-B20C-A58F1D0965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9F545B-1A7A-4208-98DE-5F22F3446F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325328-A51A-458C-9EEE-48EFC32DBE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B6AE84-F363-477D-9841-A86376ACD1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B745753-A241-4C3D-A7E7-C753D87F82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7AB1A4-2B9F-4460-9329-5E2A52DA59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5DE86-B9BF-4E36-8370-69B849479B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598701-9510-423D-AA15-6DD96A32A1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887256-F761-460F-B629-AFB718CD8F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2BD266-E6D8-4C81-B3AC-556A1F670E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ec77c8f4164809" /><Relationship Type="http://schemas.openxmlformats.org/officeDocument/2006/relationships/slideLayout" Target="/ppt/slideLayouts/slideLayout1.xml" Id="R99a16a66cdc64ec2" /><Relationship Type="http://schemas.openxmlformats.org/officeDocument/2006/relationships/slideLayout" Target="/ppt/slideLayouts/slideLayout2.xml" Id="Rc2c2ffcfdb404a5b" /><Relationship Type="http://schemas.openxmlformats.org/officeDocument/2006/relationships/slideLayout" Target="/ppt/slideLayouts/slideLayout3.xml" Id="R0925f69b81994080" /><Relationship Type="http://schemas.openxmlformats.org/officeDocument/2006/relationships/slideLayout" Target="/ppt/slideLayouts/slideLayout4.xml" Id="Rc4bfb51d822349a6" /><Relationship Type="http://schemas.openxmlformats.org/officeDocument/2006/relationships/slideLayout" Target="/ppt/slideLayouts/slideLayout5.xml" Id="Rc39a031483c44a87" /><Relationship Type="http://schemas.openxmlformats.org/officeDocument/2006/relationships/slideLayout" Target="/ppt/slideLayouts/slideLayout6.xml" Id="R14075c5bc96744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a16a66cdc64ec2"/>
    <p:sldLayoutId xmlns:r="http://schemas.openxmlformats.org/officeDocument/2006/relationships" id="2147483650" r:id="Rc2c2ffcfdb404a5b"/>
    <p:sldLayoutId xmlns:r="http://schemas.openxmlformats.org/officeDocument/2006/relationships" id="2147483651" r:id="R0925f69b81994080"/>
    <p:sldLayoutId xmlns:r="http://schemas.openxmlformats.org/officeDocument/2006/relationships" id="2147483652" r:id="Rc4bfb51d822349a6"/>
    <p:sldLayoutId xmlns:r="http://schemas.openxmlformats.org/officeDocument/2006/relationships" id="2147483653" r:id="Rc39a031483c44a87"/>
    <p:sldLayoutId xmlns:r="http://schemas.openxmlformats.org/officeDocument/2006/relationships" id="2147483654" r:id="R14075c5bc96744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61692319a94369" /><Relationship Type="http://schemas.openxmlformats.org/officeDocument/2006/relationships/notesSlide" Target="/ppt/notesSlides/notesSlide1.xml" Id="R5c5d030ff70846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575d16832b4d26" /><Relationship Type="http://schemas.openxmlformats.org/officeDocument/2006/relationships/notesSlide" Target="/ppt/notesSlides/notesSlide2.xml" Id="Rb99819737d724b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7cb22886e34ec7" /><Relationship Type="http://schemas.openxmlformats.org/officeDocument/2006/relationships/notesSlide" Target="/ppt/notesSlides/notesSlide3.xml" Id="Rb81d33eb807743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457ba8babd4971" /><Relationship Type="http://schemas.openxmlformats.org/officeDocument/2006/relationships/chart" Target="/ppt/slides/charts/chart1.xml" Id="Rfa093bef78264415" /><Relationship Type="http://schemas.openxmlformats.org/officeDocument/2006/relationships/notesSlide" Target="/ppt/notesSlides/notesSlide4.xml" Id="R8a1ace0a897247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bcc4912b244adf" /><Relationship Type="http://schemas.openxmlformats.org/officeDocument/2006/relationships/chart" Target="/ppt/slides/charts/chart2.xml" Id="Rdb0067e08e5445f6" /><Relationship Type="http://schemas.openxmlformats.org/officeDocument/2006/relationships/notesSlide" Target="/ppt/notesSlides/notesSlide5.xml" Id="R05abd2dfc26440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bfb421c3ad4598" /><Relationship Type="http://schemas.openxmlformats.org/officeDocument/2006/relationships/chart" Target="/ppt/slides/charts/chart3.xml" Id="Ra94d0e8883d34686" /><Relationship Type="http://schemas.openxmlformats.org/officeDocument/2006/relationships/notesSlide" Target="/ppt/notesSlides/notesSlide6.xml" Id="R555e507d5eb24d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17a1488dca42dd" /><Relationship Type="http://schemas.openxmlformats.org/officeDocument/2006/relationships/notesSlide" Target="/ppt/notesSlides/notesSlide7.xml" Id="Rc1fe4aac6d9347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cc2ff7b69c4577" /><Relationship Type="http://schemas.openxmlformats.org/officeDocument/2006/relationships/notesSlide" Target="/ppt/notesSlides/notesSlide8.xml" Id="Rfa7360f82bfc4f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67d77a015d46ef" /><Relationship Type="http://schemas.openxmlformats.org/officeDocument/2006/relationships/notesSlide" Target="/ppt/notesSlides/notesSlide9.xml" Id="Re7697685336a44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bfc11ec33f422d" /><Relationship Type="http://schemas.openxmlformats.org/officeDocument/2006/relationships/notesSlide" Target="/ppt/notesSlides/notesSlide10.xml" Id="Rf393147d87ff43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04837889cbd42c9" /><Relationship Type="http://schemas.openxmlformats.org/officeDocument/2006/relationships/notesSlide" Target="/ppt/notesSlides/notesSlide11.xml" Id="R3704d6e85e9e4b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9b4e37dfb824a74" /><Relationship Type="http://schemas.openxmlformats.org/officeDocument/2006/relationships/notesSlide" Target="/ppt/notesSlides/notesSlide12.xml" Id="Rca5b48cb4c2046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fe8cbb2bff43e8" /><Relationship Type="http://schemas.openxmlformats.org/officeDocument/2006/relationships/notesSlide" Target="/ppt/notesSlides/notesSlide13.xml" Id="R02301c5bc19048e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TFR</c:v>
          </c:tx>
          <c:spPr>
            <a:ln xmlns:a="http://schemas.openxmlformats.org/drawingml/2006/main" w="28575">
              <a:solidFill>
                <a:srgbClr val="073B4C"/>
              </a:solidFill>
            </a:ln>
          </c:spPr>
          <c:marker>
            <c:symbol val="none"/>
          </c:marker>
          <c:cat>
            <c:numRef>
              <c:f>'Chart Data'!$A$2:$A$22</c:f>
              <c:numCache>
                <c:formatCode>0</c:formatCode>
                <c:ptCount val="21"/>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numCache>
            </c:numRef>
          </c:cat>
          <c:val>
            <c:numRef>
              <c:f>'Chart Data'!$B$2:$B$22</c:f>
              <c:numCache>
                <c:formatCode>0.00</c:formatCode>
                <c:ptCount val="21"/>
                <c:pt idx="0">
                  <c:v>1.26</c:v>
                </c:pt>
                <c:pt idx="1">
                  <c:v>1.28</c:v>
                </c:pt>
                <c:pt idx="2">
                  <c:v>1.29</c:v>
                </c:pt>
                <c:pt idx="3">
                  <c:v>1.28</c:v>
                </c:pt>
                <c:pt idx="4">
                  <c:v>1.22</c:v>
                </c:pt>
                <c:pt idx="5">
                  <c:v>1.15</c:v>
                </c:pt>
                <c:pt idx="6">
                  <c:v>1.2</c:v>
                </c:pt>
                <c:pt idx="7">
                  <c:v>1.29</c:v>
                </c:pt>
                <c:pt idx="8">
                  <c:v>1.19</c:v>
                </c:pt>
                <c:pt idx="9">
                  <c:v>1.25</c:v>
                </c:pt>
                <c:pt idx="10">
                  <c:v>1.24</c:v>
                </c:pt>
                <c:pt idx="11">
                  <c:v>1.2</c:v>
                </c:pt>
                <c:pt idx="12">
                  <c:v>1.16</c:v>
                </c:pt>
                <c:pt idx="13">
                  <c:v>1.14</c:v>
                </c:pt>
                <c:pt idx="14">
                  <c:v>1.14</c:v>
                </c:pt>
                <c:pt idx="15">
                  <c:v>1.1</c:v>
                </c:pt>
                <c:pt idx="16">
                  <c:v>1.12</c:v>
                </c:pt>
                <c:pt idx="17">
                  <c:v>1.04</c:v>
                </c:pt>
                <c:pt idx="18">
                  <c:v>0.97</c:v>
                </c:pt>
                <c:pt idx="19">
                  <c:v>0.97</c:v>
                </c:pt>
                <c:pt idx="20">
                  <c:v>0.87</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671"/>
                </a:solidFill>
                <a:latin typeface="Helvetica Neue"/>
                <a:ea typeface="Helvetica Neue"/>
                <a:cs typeface="Helvetica Neue"/>
              </a:defRPr>
            </a:pPr>
          </a:p>
        </c:txPr>
        <c:crossAx val="48672768"/>
      </c:catAx>
      <c:valAx>
        <c:axId val="48672768"/>
        <c:scaling>
          <c:orientation val="minMax"/>
          <c:max val="1.4"/>
          <c:min val="0.6"/>
        </c:scaling>
        <c:delete val="0"/>
        <c:axPos val="l"/>
        <c:majorGridlines>
          <c:spPr>
            <a:ln xmlns:a="http://schemas.openxmlformats.org/drawingml/2006/main" w="5715">
              <a:solidFill>
                <a:srgbClr val="DDE7EB"/>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1"/>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2015</c:v>
          </c:tx>
          <c:spPr>
            <a:solidFill xmlns:a="http://schemas.openxmlformats.org/drawingml/2006/main">
              <a:srgbClr val="073B4C"/>
            </a:solidFill>
          </c:spPr>
          <c:invertIfNegative val="0"/>
          <c:cat>
            <c:strRef>
              <c:f>'Chart Data'!$A$2:$A$6</c:f>
              <c:strCache>
                <c:ptCount val="5"/>
                <c:pt idx="0">
                  <c:v>20–24</c:v>
                </c:pt>
                <c:pt idx="1">
                  <c:v>25–29</c:v>
                </c:pt>
                <c:pt idx="2">
                  <c:v>30–34</c:v>
                </c:pt>
                <c:pt idx="3">
                  <c:v>35–39</c:v>
                </c:pt>
                <c:pt idx="4">
                  <c:v>40–44</c:v>
                </c:pt>
              </c:strCache>
            </c:strRef>
          </c:cat>
          <c:val>
            <c:numRef>
              <c:f>'Chart Data'!$B$2:$B$6</c:f>
              <c:numCache>
                <c:formatCode>0.0</c:formatCode>
                <c:ptCount val="5"/>
                <c:pt idx="0">
                  <c:v>18.7</c:v>
                </c:pt>
                <c:pt idx="1">
                  <c:v>68.7</c:v>
                </c:pt>
                <c:pt idx="2">
                  <c:v>98.5</c:v>
                </c:pt>
                <c:pt idx="3">
                  <c:v>49.9</c:v>
                </c:pt>
                <c:pt idx="4">
                  <c:v>8.9</c:v>
                </c:pt>
              </c:numCache>
            </c:numRef>
          </c:val>
        </c:ser>
        <c:ser>
          <c:idx val="1"/>
          <c:order val="1"/>
          <c:tx>
            <c:v>2025</c:v>
          </c:tx>
          <c:spPr>
            <a:solidFill xmlns:a="http://schemas.openxmlformats.org/drawingml/2006/main">
              <a:srgbClr val="B64B35"/>
            </a:solidFill>
          </c:spPr>
          <c:invertIfNegative val="0"/>
          <c:cat>
            <c:strRef>
              <c:f>'Chart Data'!$C$2:$C$6</c:f>
              <c:strCache>
                <c:ptCount val="5"/>
                <c:pt idx="0">
                  <c:v>20–24</c:v>
                </c:pt>
                <c:pt idx="1">
                  <c:v>25–29</c:v>
                </c:pt>
                <c:pt idx="2">
                  <c:v>30–34</c:v>
                </c:pt>
                <c:pt idx="3">
                  <c:v>35–39</c:v>
                </c:pt>
                <c:pt idx="4">
                  <c:v>40–44</c:v>
                </c:pt>
              </c:strCache>
            </c:strRef>
          </c:cat>
          <c:val>
            <c:numRef>
              <c:f>'Chart Data'!$D$2:$D$6</c:f>
              <c:numCache>
                <c:formatCode>0.0</c:formatCode>
                <c:ptCount val="5"/>
                <c:pt idx="0">
                  <c:v>8.7</c:v>
                </c:pt>
                <c:pt idx="1">
                  <c:v>38.1</c:v>
                </c:pt>
                <c:pt idx="2">
                  <c:v>69.7</c:v>
                </c:pt>
                <c:pt idx="3">
                  <c:v>46</c:v>
                </c:pt>
                <c:pt idx="4">
                  <c:v>9.5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671"/>
                </a:solidFill>
                <a:latin typeface="Helvetica Neue"/>
                <a:ea typeface="Helvetica Neue"/>
                <a:cs typeface="Helvetica Neue"/>
              </a:defRPr>
            </a:pPr>
          </a:p>
        </c:txPr>
        <c:crossAx val="48672768"/>
      </c:catAx>
      <c:valAx>
        <c:axId val="48672768"/>
        <c:scaling>
          <c:orientation val="minMax"/>
          <c:max val="120"/>
          <c:min val="0"/>
        </c:scaling>
        <c:delete val="0"/>
        <c:axPos val="l"/>
        <c:majorGridlines>
          <c:spPr>
            <a:ln xmlns:a="http://schemas.openxmlformats.org/drawingml/2006/main" w="5715">
              <a:solidFill>
                <a:srgbClr val="DDE7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1"/>
                </a:solidFill>
                <a:latin typeface="Helvetica Neue"/>
                <a:ea typeface="Helvetica Neue"/>
                <a:cs typeface="Helvetica Neue"/>
              </a:defRPr>
            </a:pPr>
          </a:p>
        </c:txPr>
        <c:crossAx val="48650112"/>
        <c:crossBetween val="between"/>
        <c:majorUnit val="3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26671"/>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Levels</c:v>
          </c:tx>
          <c:spPr>
            <a:solidFill xmlns:a="http://schemas.openxmlformats.org/drawingml/2006/main">
              <a:srgbClr val="073B4C"/>
            </a:solidFill>
          </c:spPr>
          <c:invertIfNegative val="0"/>
          <c:cat>
            <c:strRef>
              <c:f>'Chart Data'!$A$2:$A$7</c:f>
              <c:strCache>
                <c:ptCount val="6"/>
                <c:pt idx="0">
                  <c:v>Marriage rate</c:v>
                </c:pt>
                <c:pt idx="1">
                  <c:v>Consumer prices</c:v>
                </c:pt>
                <c:pt idx="2">
                  <c:v>Accommodation prices</c:v>
                </c:pt>
                <c:pt idx="3">
                  <c:v>Education prices</c:v>
                </c:pt>
                <c:pt idx="4">
                  <c:v>Liabilities / assets</c:v>
                </c:pt>
                <c:pt idx="5">
                  <c:v>Rail length</c:v>
                </c:pt>
              </c:strCache>
            </c:strRef>
          </c:cat>
          <c:val>
            <c:numRef>
              <c:f>'Chart Data'!$B$2:$B$7</c:f>
              <c:numCache>
                <c:formatCode>0.0</c:formatCode>
                <c:ptCount val="6"/>
                <c:pt idx="0">
                  <c:v>-0.1115</c:v>
                </c:pt>
                <c:pt idx="1">
                  <c:v>-0.8447</c:v>
                </c:pt>
                <c:pt idx="2">
                  <c:v>-0.5184</c:v>
                </c:pt>
                <c:pt idx="3">
                  <c:v>-0.8377</c:v>
                </c:pt>
                <c:pt idx="4">
                  <c:v>0.9147</c:v>
                </c:pt>
                <c:pt idx="5">
                  <c:v>-0.87</c:v>
                </c:pt>
              </c:numCache>
            </c:numRef>
          </c:val>
        </c:ser>
        <c:ser>
          <c:idx val="1"/>
          <c:order val="1"/>
          <c:tx>
            <c:v>Annual changes</c:v>
          </c:tx>
          <c:spPr>
            <a:solidFill xmlns:a="http://schemas.openxmlformats.org/drawingml/2006/main">
              <a:srgbClr val="B64B35"/>
            </a:solidFill>
          </c:spPr>
          <c:invertIfNegative val="0"/>
          <c:cat>
            <c:strRef>
              <c:f>'Chart Data'!$C$2:$C$7</c:f>
              <c:strCache>
                <c:ptCount val="6"/>
                <c:pt idx="0">
                  <c:v>Marriage rate</c:v>
                </c:pt>
                <c:pt idx="1">
                  <c:v>Consumer prices</c:v>
                </c:pt>
                <c:pt idx="2">
                  <c:v>Accommodation prices</c:v>
                </c:pt>
                <c:pt idx="3">
                  <c:v>Education prices</c:v>
                </c:pt>
                <c:pt idx="4">
                  <c:v>Liabilities / assets</c:v>
                </c:pt>
                <c:pt idx="5">
                  <c:v>Rail length</c:v>
                </c:pt>
              </c:strCache>
            </c:strRef>
          </c:cat>
          <c:val>
            <c:numRef>
              <c:f>'Chart Data'!$D$2:$D$7</c:f>
              <c:numCache>
                <c:formatCode>0.0</c:formatCode>
                <c:ptCount val="6"/>
                <c:pt idx="0">
                  <c:v>0.4974</c:v>
                </c:pt>
                <c:pt idx="1">
                  <c:v>0.0428</c:v>
                </c:pt>
                <c:pt idx="2">
                  <c:v>0.1988</c:v>
                </c:pt>
                <c:pt idx="3">
                  <c:v>0.2674</c:v>
                </c:pt>
                <c:pt idx="4">
                  <c:v>0.1918</c:v>
                </c:pt>
                <c:pt idx="5">
                  <c:v>-0.0419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1"/>
                </a:solidFill>
                <a:latin typeface="Helvetica Neue"/>
                <a:ea typeface="Helvetica Neue"/>
                <a:cs typeface="Helvetica Neue"/>
              </a:defRPr>
            </a:pPr>
          </a:p>
        </c:txPr>
        <c:crossAx val="48672768"/>
      </c:catAx>
      <c:valAx>
        <c:axId val="48672768"/>
        <c:scaling>
          <c:orientation val="minMax"/>
          <c:max val="1"/>
          <c:min val="-1"/>
        </c:scaling>
        <c:delete val="0"/>
        <c:axPos val="b"/>
        <c:majorGridlines>
          <c:spPr>
            <a:ln xmlns:a="http://schemas.openxmlformats.org/drawingml/2006/main" w="5715">
              <a:solidFill>
                <a:srgbClr val="DDE7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1"/>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26671"/>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3B4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7D89EA-45AC-490F-879F-54B020AFA7D0}"/>
              </a:ext>
            </a:extLst>
          </p:cNvPr>
          <p:cNvSpPr>
            <a:spLocks xmlns:a="http://schemas.openxmlformats.org/drawingml/2006/main" noGrp="1"/>
          </p:cNvSpPr>
          <p:nvPr/>
        </p:nvSpPr>
        <p:spPr>
          <a:xfrm xmlns:a="http://schemas.openxmlformats.org/drawingml/2006/main">
            <a:off x="685800" y="7239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9CDD5"/>
                </a:solidFill>
                <a:latin typeface="Helvetica Neue"/>
                <a:ea typeface="Helvetica Neue"/>
                <a:cs typeface="Helvetica Neue"/>
              </a:defRPr>
            </a:defPPr>
          </a:lstStyle>
          <a:p xmlns:a="http://schemas.openxmlformats.org/drawingml/2006/main">
            <a:pPr>
              <a:defRPr sz="1800" b="1">
                <a:solidFill>
                  <a:srgbClr val="B9CDD5"/>
                </a:solidFill>
                <a:latin typeface="Helvetica Neue"/>
                <a:ea typeface="Helvetica Neue"/>
                <a:cs typeface="Helvetica Neue"/>
              </a:defRPr>
            </a:pPr>
            <a:r>
              <a:rPr sz="1800" b="1">
                <a:solidFill>
                  <a:srgbClr val="B9CDD5"/>
                </a:solidFill>
                <a:latin typeface="Helvetica Neue"/>
                <a:ea typeface="Helvetica Neue"/>
                <a:cs typeface="Helvetica Neue"/>
              </a:rPr>
              <a:t>SINGAPORE</a:t>
            </a:r>
          </a:p>
        </p:txBody>
      </p:sp>
      <p:sp>
        <p:nvSpPr>
          <p:cNvPr id="2" name="">
            <a:extLst xmlns:a="http://schemas.openxmlformats.org/drawingml/2006/main">
              <a:ext uri="{FF2B5EF4-FFF2-40B4-BE49-F238E27FC236}">
                <a16:creationId xmlns:a16="http://schemas.microsoft.com/office/drawing/2014/main" id="{8D8A5B7B-803B-4D97-B57A-A5140F81E06A}"/>
              </a:ext>
            </a:extLst>
          </p:cNvPr>
          <p:cNvSpPr>
            <a:spLocks xmlns:a="http://schemas.openxmlformats.org/drawingml/2006/main" noGrp="1"/>
          </p:cNvSpPr>
          <p:nvPr/>
        </p:nvSpPr>
        <p:spPr>
          <a:xfrm xmlns:a="http://schemas.openxmlformats.org/drawingml/2006/main">
            <a:off x="685800" y="199072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FFFFF"/>
                </a:solidFill>
                <a:latin typeface="Helvetica Neue"/>
                <a:ea typeface="Helvetica Neue"/>
                <a:cs typeface="Helvetica Neue"/>
              </a:defRPr>
            </a:defPPr>
          </a:lstStyle>
          <a:p xmlns:a="http://schemas.openxmlformats.org/drawingml/2006/main">
            <a:pPr>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Fertility decline</a:t>
            </a:r>
          </a:p>
        </p:txBody>
      </p:sp>
      <p:sp>
        <p:nvSpPr>
          <p:cNvPr id="3" name="">
            <a:extLst xmlns:a="http://schemas.openxmlformats.org/drawingml/2006/main">
              <a:ext uri="{FF2B5EF4-FFF2-40B4-BE49-F238E27FC236}">
                <a16:creationId xmlns:a16="http://schemas.microsoft.com/office/drawing/2014/main" id="{32731A78-B34B-4CDA-81F1-88513D6258CB}"/>
              </a:ext>
            </a:extLst>
          </p:cNvPr>
          <p:cNvSpPr>
            <a:spLocks xmlns:a="http://schemas.openxmlformats.org/drawingml/2006/main" noGrp="1"/>
          </p:cNvSpPr>
          <p:nvPr/>
        </p:nvSpPr>
        <p:spPr>
          <a:xfrm xmlns:a="http://schemas.openxmlformats.org/drawingml/2006/main">
            <a:off x="685800" y="30956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0">
                <a:solidFill>
                  <a:srgbClr val="FFFFFF"/>
                </a:solidFill>
                <a:latin typeface="Helvetica Neue"/>
                <a:ea typeface="Helvetica Neue"/>
                <a:cs typeface="Helvetica Neue"/>
              </a:defRPr>
            </a:defPPr>
          </a:lstStyle>
          <a:p xmlns:a="http://schemas.openxmlformats.org/drawingml/2006/main">
            <a:pPr>
              <a:defRPr sz="3525" b="0">
                <a:solidFill>
                  <a:srgbClr val="FFFFFF"/>
                </a:solidFill>
                <a:latin typeface="Helvetica Neue"/>
                <a:ea typeface="Helvetica Neue"/>
                <a:cs typeface="Helvetica Neue"/>
              </a:defRPr>
            </a:pPr>
            <a:r>
              <a:rPr sz="3525" b="0">
                <a:solidFill>
                  <a:srgbClr val="FFFFFF"/>
                </a:solidFill>
                <a:latin typeface="Helvetica Neue"/>
                <a:ea typeface="Helvetica Neue"/>
                <a:cs typeface="Helvetica Neue"/>
              </a:rPr>
              <a:t>Evidence and policy priorities</a:t>
            </a:r>
          </a:p>
        </p:txBody>
      </p:sp>
      <p:sp>
        <p:nvSpPr>
          <p:cNvPr id="4" name="">
            <a:extLst xmlns:a="http://schemas.openxmlformats.org/drawingml/2006/main">
              <a:ext uri="{FF2B5EF4-FFF2-40B4-BE49-F238E27FC236}">
                <a16:creationId xmlns:a16="http://schemas.microsoft.com/office/drawing/2014/main" id="{32D92FD8-0B6E-42F3-8306-D23EACEC3C09}"/>
              </a:ext>
            </a:extLst>
          </p:cNvPr>
          <p:cNvSpPr>
            <a:spLocks xmlns:a="http://schemas.openxmlformats.org/drawingml/2006/main" noGrp="1"/>
          </p:cNvSpPr>
          <p:nvPr/>
        </p:nvSpPr>
        <p:spPr>
          <a:xfrm xmlns:a="http://schemas.openxmlformats.org/drawingml/2006/main">
            <a:off x="685800" y="52578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9CDD5"/>
                </a:solidFill>
                <a:latin typeface="Helvetica Neue"/>
                <a:ea typeface="Helvetica Neue"/>
                <a:cs typeface="Helvetica Neue"/>
              </a:defRPr>
            </a:defPPr>
          </a:lstStyle>
          <a:p xmlns:a="http://schemas.openxmlformats.org/drawingml/2006/main">
            <a:pPr>
              <a:defRPr sz="1950" b="0">
                <a:solidFill>
                  <a:srgbClr val="B9CDD5"/>
                </a:solidFill>
                <a:latin typeface="Helvetica Neue"/>
                <a:ea typeface="Helvetica Neue"/>
                <a:cs typeface="Helvetica Neue"/>
              </a:defRPr>
            </a:pPr>
            <a:r>
              <a:rPr sz="1950" b="0">
                <a:solidFill>
                  <a:srgbClr val="B9CDD5"/>
                </a:solidFill>
                <a:latin typeface="Helvetica Neue"/>
                <a:ea typeface="Helvetica Neue"/>
                <a:cs typeface="Helvetica Neue"/>
              </a:rPr>
              <a:t>Programming Essentials group project</a:t>
            </a:r>
          </a:p>
        </p:txBody>
      </p:sp>
      <p:sp>
        <p:nvSpPr>
          <p:cNvPr id="5" name="">
            <a:extLst xmlns:a="http://schemas.openxmlformats.org/drawingml/2006/main">
              <a:ext uri="{FF2B5EF4-FFF2-40B4-BE49-F238E27FC236}">
                <a16:creationId xmlns:a16="http://schemas.microsoft.com/office/drawing/2014/main" id="{8495A0B2-59D1-4ACD-9CAB-98F6B1D78B8B}"/>
              </a:ext>
            </a:extLst>
          </p:cNvPr>
          <p:cNvSpPr>
            <a:spLocks xmlns:a="http://schemas.openxmlformats.org/drawingml/2006/main" noGrp="1"/>
          </p:cNvSpPr>
          <p:nvPr/>
        </p:nvSpPr>
        <p:spPr>
          <a:xfrm xmlns:a="http://schemas.openxmlformats.org/drawingml/2006/main">
            <a:off x="685800" y="5838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9CDD5"/>
                </a:solidFill>
                <a:latin typeface="Helvetica Neue"/>
                <a:ea typeface="Helvetica Neue"/>
                <a:cs typeface="Helvetica Neue"/>
              </a:defRPr>
            </a:defPPr>
          </a:lstStyle>
          <a:p xmlns:a="http://schemas.openxmlformats.org/drawingml/2006/main">
            <a:pPr>
              <a:defRPr sz="1575" b="0">
                <a:solidFill>
                  <a:srgbClr val="B9CDD5"/>
                </a:solidFill>
                <a:latin typeface="Helvetica Neue"/>
                <a:ea typeface="Helvetica Neue"/>
                <a:cs typeface="Helvetica Neue"/>
              </a:defRPr>
            </a:pPr>
            <a:r>
              <a:rPr sz="1575" b="0">
                <a:solidFill>
                  <a:srgbClr val="B9CDD5"/>
                </a:solidFill>
                <a:latin typeface="Helvetica Neue"/>
                <a:ea typeface="Helvetica Neue"/>
                <a:cs typeface="Helvetica Neue"/>
              </a:rPr>
              <a:t>12 October 2026     Analysis window: 2005–2025</a:t>
            </a:r>
          </a:p>
        </p:txBody>
      </p:sp>
    </p:spTree>
    <p:extLst>
      <p:ext uri="{BB962C8B-B14F-4D97-AF65-F5344CB8AC3E}">
        <p14:creationId xmlns:p14="http://schemas.microsoft.com/office/powerpoint/2010/main" val="7353893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89687-65C5-4F0B-89BA-6AE81ACF0EF5}"/>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21FDB7B9-BCA8-4013-8908-F16D6FDAA3E5}"/>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Policy decisions need direct evidence on family constraints</a:t>
            </a:r>
          </a:p>
        </p:txBody>
      </p:sp>
      <p:sp>
        <p:nvSpPr>
          <p:cNvPr id="3" name="">
            <a:extLst xmlns:a="http://schemas.openxmlformats.org/drawingml/2006/main">
              <a:ext uri="{FF2B5EF4-FFF2-40B4-BE49-F238E27FC236}">
                <a16:creationId xmlns:a16="http://schemas.microsoft.com/office/drawing/2014/main" id="{40809CFF-BCBD-47C9-A22A-5F2A93BE6409}"/>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4" name="">
            <a:extLst xmlns:a="http://schemas.openxmlformats.org/drawingml/2006/main">
              <a:ext uri="{FF2B5EF4-FFF2-40B4-BE49-F238E27FC236}">
                <a16:creationId xmlns:a16="http://schemas.microsoft.com/office/drawing/2014/main" id="{7B46E3A1-D50B-46F8-98C3-A610953A279B}"/>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DB5901A-58B9-48A1-AD08-C423E8EEEE6C}"/>
              </a:ext>
            </a:extLst>
          </p:cNvPr>
          <p:cNvSpPr>
            <a:spLocks xmlns:a="http://schemas.openxmlformats.org/drawingml/2006/main" noGrp="1"/>
          </p:cNvSpPr>
          <p:nvPr/>
        </p:nvSpPr>
        <p:spPr>
          <a:xfrm xmlns:a="http://schemas.openxmlformats.org/drawingml/2006/main">
            <a:off x="609600" y="21431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Observed decline</a:t>
            </a:r>
          </a:p>
        </p:txBody>
      </p:sp>
      <p:sp>
        <p:nvSpPr>
          <p:cNvPr id="6" name="">
            <a:extLst xmlns:a="http://schemas.openxmlformats.org/drawingml/2006/main">
              <a:ext uri="{FF2B5EF4-FFF2-40B4-BE49-F238E27FC236}">
                <a16:creationId xmlns:a16="http://schemas.microsoft.com/office/drawing/2014/main" id="{FD31EE55-653C-4855-9A30-9F7AA020F177}"/>
              </a:ext>
            </a:extLst>
          </p:cNvPr>
          <p:cNvSpPr>
            <a:spLocks xmlns:a="http://schemas.openxmlformats.org/drawingml/2006/main" noGrp="1"/>
          </p:cNvSpPr>
          <p:nvPr/>
        </p:nvSpPr>
        <p:spPr>
          <a:xfrm xmlns:a="http://schemas.openxmlformats.org/drawingml/2006/main">
            <a:off x="3810000" y="21431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TFR fell 29.8% over the decade, from 1.24 to 0.87 births per woman.</a:t>
            </a:r>
          </a:p>
        </p:txBody>
      </p:sp>
      <p:sp>
        <p:nvSpPr>
          <p:cNvPr id="7" name="">
            <a:extLst xmlns:a="http://schemas.openxmlformats.org/drawingml/2006/main">
              <a:ext uri="{FF2B5EF4-FFF2-40B4-BE49-F238E27FC236}">
                <a16:creationId xmlns:a16="http://schemas.microsoft.com/office/drawing/2014/main" id="{22474CF5-A618-4318-B3E6-09F9ED0E8FD5}"/>
              </a:ext>
            </a:extLst>
          </p:cNvPr>
          <p:cNvSpPr>
            <a:spLocks xmlns:a="http://schemas.openxmlformats.org/drawingml/2006/main" noGrp="1"/>
          </p:cNvSpPr>
          <p:nvPr/>
        </p:nvSpPr>
        <p:spPr>
          <a:xfrm xmlns:a="http://schemas.openxmlformats.org/drawingml/2006/main">
            <a:off x="609600" y="33813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Strongest change signal</a:t>
            </a:r>
          </a:p>
        </p:txBody>
      </p:sp>
      <p:sp>
        <p:nvSpPr>
          <p:cNvPr id="8" name="">
            <a:extLst xmlns:a="http://schemas.openxmlformats.org/drawingml/2006/main">
              <a:ext uri="{FF2B5EF4-FFF2-40B4-BE49-F238E27FC236}">
                <a16:creationId xmlns:a16="http://schemas.microsoft.com/office/drawing/2014/main" id="{48409FC4-6463-4BBE-9189-1F418C44F496}"/>
              </a:ext>
            </a:extLst>
          </p:cNvPr>
          <p:cNvSpPr>
            <a:spLocks xmlns:a="http://schemas.openxmlformats.org/drawingml/2006/main" noGrp="1"/>
          </p:cNvSpPr>
          <p:nvPr/>
        </p:nvSpPr>
        <p:spPr>
          <a:xfrm xmlns:a="http://schemas.openxmlformats.org/drawingml/2006/main">
            <a:off x="3810000" y="338137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Marriage formation merits further investigation. Its adjusted full-sample result is borderline.</a:t>
            </a:r>
          </a:p>
        </p:txBody>
      </p:sp>
      <p:sp>
        <p:nvSpPr>
          <p:cNvPr id="9" name="">
            <a:extLst xmlns:a="http://schemas.openxmlformats.org/drawingml/2006/main">
              <a:ext uri="{FF2B5EF4-FFF2-40B4-BE49-F238E27FC236}">
                <a16:creationId xmlns:a16="http://schemas.microsoft.com/office/drawing/2014/main" id="{5D485732-D13C-42B1-B96A-F03438621B9F}"/>
              </a:ext>
            </a:extLst>
          </p:cNvPr>
          <p:cNvSpPr>
            <a:spLocks xmlns:a="http://schemas.openxmlformats.org/drawingml/2006/main" noGrp="1"/>
          </p:cNvSpPr>
          <p:nvPr/>
        </p:nvSpPr>
        <p:spPr>
          <a:xfrm xmlns:a="http://schemas.openxmlformats.org/drawingml/2006/main">
            <a:off x="609600" y="46196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Proposed priority</a:t>
            </a:r>
          </a:p>
        </p:txBody>
      </p:sp>
      <p:sp>
        <p:nvSpPr>
          <p:cNvPr id="10" name="">
            <a:extLst xmlns:a="http://schemas.openxmlformats.org/drawingml/2006/main">
              <a:ext uri="{FF2B5EF4-FFF2-40B4-BE49-F238E27FC236}">
                <a16:creationId xmlns:a16="http://schemas.microsoft.com/office/drawing/2014/main" id="{658EF557-B86C-4240-AB43-7553865D38D3}"/>
              </a:ext>
            </a:extLst>
          </p:cNvPr>
          <p:cNvSpPr>
            <a:spLocks xmlns:a="http://schemas.openxmlformats.org/drawingml/2006/main" noGrp="1"/>
          </p:cNvSpPr>
          <p:nvPr/>
        </p:nvSpPr>
        <p:spPr>
          <a:xfrm xmlns:a="http://schemas.openxmlformats.org/drawingml/2006/main">
            <a:off x="3810000" y="46196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Evaluate housing and caregiving support with direct cost, access and family-transition measures.</a:t>
            </a:r>
          </a:p>
        </p:txBody>
      </p:sp>
    </p:spTree>
    <p:extLst>
      <p:ext uri="{BB962C8B-B14F-4D97-AF65-F5344CB8AC3E}">
        <p14:creationId xmlns:p14="http://schemas.microsoft.com/office/powerpoint/2010/main" val="10560028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B84EAC-D9ED-429E-89AB-F4CC2487ACA9}"/>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99F24C71-8DBD-4C92-B74F-E0A72932B68A}"/>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Data sources and common definitions</a:t>
            </a:r>
          </a:p>
        </p:txBody>
      </p:sp>
      <p:sp>
        <p:nvSpPr>
          <p:cNvPr id="3" name="">
            <a:extLst xmlns:a="http://schemas.openxmlformats.org/drawingml/2006/main">
              <a:ext uri="{FF2B5EF4-FFF2-40B4-BE49-F238E27FC236}">
                <a16:creationId xmlns:a16="http://schemas.microsoft.com/office/drawing/2014/main" id="{7D0480C4-FAE3-4660-A057-BC9001D3CF6B}"/>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Five official series. Six candidate indicators. Twenty-one complete annual observations.</a:t>
            </a:r>
          </a:p>
        </p:txBody>
      </p:sp>
      <p:sp>
        <p:nvSpPr>
          <p:cNvPr id="4" name="">
            <a:extLst xmlns:a="http://schemas.openxmlformats.org/drawingml/2006/main">
              <a:ext uri="{FF2B5EF4-FFF2-40B4-BE49-F238E27FC236}">
                <a16:creationId xmlns:a16="http://schemas.microsoft.com/office/drawing/2014/main" id="{7728D78B-C665-4E9C-8818-BAFA4D6325D0}"/>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0B96A0C8-4AA5-4972-BD95-E2FF08A7631B}"/>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03</a:t>
            </a:r>
          </a:p>
        </p:txBody>
      </p:sp>
      <p:graphicFrame>
        <p:nvGraphicFramePr>
          <p:cNvPr id="6" name="">
            <a:extLst xmlns:a="http://schemas.openxmlformats.org/drawingml/2006/main">
              <a:ext uri="{FF2B5EF4-FFF2-40B4-BE49-F238E27FC236}">
                <a16:creationId xmlns:a16="http://schemas.microsoft.com/office/drawing/2014/main" id="{32834B61-7417-4D4D-896B-3B50B08C2D10}"/>
              </a:ext>
            </a:extLst>
          </p:cNvPr>
          <p:cNvGraphicFramePr/>
          <p:nvPr/>
        </p:nvGraphicFramePr>
        <p:xfrm>
          <a:off xmlns:a="http://schemas.openxmlformats.org/drawingml/2006/main" x="609600" y="2305050"/>
          <a:ext xmlns:a="http://schemas.openxmlformats.org/drawingml/2006/main" cx="10972800" cy="3286125"/>
        </p:xfrm>
        <a:graphic xmlns:a="http://schemas.openxmlformats.org/drawingml/2006/main">
          <a:graphicData uri="http://schemas.openxmlformats.org/drawingml/2006/table">
            <a:tbl>
              <a:tblPr firstRow="1" bandRow="0"/>
              <a:tblGrid>
                <a:gridCol w="3286125"/>
                <a:gridCol w="2095500"/>
                <a:gridCol w="5591175"/>
              </a:tblGrid>
              <a:tr h="547688">
                <a:tc>
                  <a:txBody>
                    <a:bodyPr/>
                    <a:lstStyle/>
                    <a:p>
                      <a:r>
                        <a:rPr sz="1725" b="1">
                          <a:solidFill>
                            <a:srgbClr val="FFFFFF"/>
                          </a:solidFill>
                          <a:latin typeface="Helvetica Neue"/>
                          <a:ea typeface="Helvetica Neue"/>
                          <a:cs typeface="Helvetica Neue"/>
                        </a:rPr>
                        <a:t>Source</a:t>
                      </a:r>
                    </a:p>
                  </a:txBody>
                  <a:tcPr marL="114300" marR="114300" marT="76200" marB="76200">
                    <a:lnL w="4763">
                      <a:solidFill>
                        <a:srgbClr val="DDE7EB"/>
                      </a:solidFill>
                      <a:prstDash val="solid"/>
                    </a:lnL>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Official table</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Use in project</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r>
              <a:tr h="547688">
                <a:tc>
                  <a:txBody>
                    <a:bodyPr/>
                    <a:lstStyle/>
                    <a:p>
                      <a:r>
                        <a:rPr sz="1725">
                          <a:solidFill>
                            <a:srgbClr val="073B4C"/>
                          </a:solidFill>
                          <a:latin typeface="Helvetica Neue"/>
                          <a:ea typeface="Helvetica Neue"/>
                          <a:cs typeface="Helvetica Neue"/>
                        </a:rPr>
                        <a:t>Births and fertility</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M810091</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TFR and age patterns</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Marriage rates</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M830102</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Female marriage formation</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Monthly CPI</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M213751</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Consumer, housing and education prices</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Household balance sheet</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M700981</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Q4 liabilities / assets</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Public transport</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M651351</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Rail length</a:t>
                      </a:r>
                    </a:p>
                  </a:txBody>
                  <a:tcPr marL="114300" marR="114300" marT="76200" marB="76200">
                    <a:lnR w="4763">
                      <a:solidFill>
                        <a:srgbClr val="DDE7EB"/>
                      </a:solidFill>
                      <a:prstDash val="solid"/>
                    </a:lnR>
                    <a:lnB w="4763">
                      <a:solidFill>
                        <a:srgbClr val="DDE7EB"/>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B4A66C5B-148C-419B-BAFE-232526D53B90}"/>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CPI: 12-month means. Balance sheets: Q4 stocks. Common window: 2005–2025.</a:t>
            </a:r>
          </a:p>
        </p:txBody>
      </p:sp>
    </p:spTree>
    <p:extLst>
      <p:ext uri="{BB962C8B-B14F-4D97-AF65-F5344CB8AC3E}">
        <p14:creationId xmlns:p14="http://schemas.microsoft.com/office/powerpoint/2010/main" val="700664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5FA62A-5C93-498E-B1D8-1B191C4A9078}"/>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142EAEE4-DBDA-4E94-944C-B8455BD864E5}"/>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TFR fell from 1.24 to 0.87 over the past decade</a:t>
            </a:r>
          </a:p>
        </p:txBody>
      </p:sp>
      <p:sp>
        <p:nvSpPr>
          <p:cNvPr id="3" name="">
            <a:extLst xmlns:a="http://schemas.openxmlformats.org/drawingml/2006/main">
              <a:ext uri="{FF2B5EF4-FFF2-40B4-BE49-F238E27FC236}">
                <a16:creationId xmlns:a16="http://schemas.microsoft.com/office/drawing/2014/main" id="{28B69118-25D9-4679-83A9-93B85022AD14}"/>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Resident total fertility rate, births per woman</a:t>
            </a:r>
          </a:p>
        </p:txBody>
      </p:sp>
      <p:sp>
        <p:nvSpPr>
          <p:cNvPr id="4" name="">
            <a:extLst xmlns:a="http://schemas.openxmlformats.org/drawingml/2006/main">
              <a:ext uri="{FF2B5EF4-FFF2-40B4-BE49-F238E27FC236}">
                <a16:creationId xmlns:a16="http://schemas.microsoft.com/office/drawing/2014/main" id="{B5EC0550-ABB9-4D9B-98B9-9E9C45D95885}"/>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A128D6D1-AFA1-4535-9DB1-3B030488C6B4}"/>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04</a:t>
            </a:r>
          </a:p>
        </p:txBody>
      </p:sp>
      <p:graphicFrame>
        <p:nvGraphicFramePr>
          <p:cNvPr id="6" name="Chart">
            <a:extLst xmlns:a="http://schemas.openxmlformats.org/drawingml/2006/main">
              <a:ext uri="{FF2B5EF4-FFF2-40B4-BE49-F238E27FC236}">
                <a16:creationId xmlns:a16="http://schemas.microsoft.com/office/drawing/2014/main" id="{A454E41F-8464-4EFD-8F97-1B7E2769D179}"/>
              </a:ext>
            </a:extLst>
          </p:cNvPr>
          <p:cNvGraphicFramePr/>
          <p:nvPr/>
        </p:nvGraphicFramePr>
        <p:xfrm>
          <a:off xmlns:a="http://schemas.openxmlformats.org/drawingml/2006/main" x="609600" y="2333625"/>
          <a:ext xmlns:a="http://schemas.openxmlformats.org/drawingml/2006/main" cx="7762875" cy="3714750"/>
        </p:xfrm>
        <a:graphic xmlns:a="http://schemas.openxmlformats.org/drawingml/2006/main">
          <a:graphicData uri="http://schemas.openxmlformats.org/drawingml/2006/chart">
            <c:chart xmlns:r="http://schemas.openxmlformats.org/officeDocument/2006/relationships" xmlns:c="http://schemas.openxmlformats.org/drawingml/2006/chart" r:id="Rfa093bef78264415"/>
          </a:graphicData>
        </a:graphic>
      </p:graphicFrame>
      <p:sp>
        <p:nvSpPr>
          <p:cNvPr id="7" name="">
            <a:extLst xmlns:a="http://schemas.openxmlformats.org/drawingml/2006/main">
              <a:ext uri="{FF2B5EF4-FFF2-40B4-BE49-F238E27FC236}">
                <a16:creationId xmlns:a16="http://schemas.microsoft.com/office/drawing/2014/main" id="{3D456322-40ED-4818-B148-7B65E02BEC29}"/>
              </a:ext>
            </a:extLst>
          </p:cNvPr>
          <p:cNvSpPr>
            <a:spLocks xmlns:a="http://schemas.openxmlformats.org/drawingml/2006/main" noGrp="1"/>
          </p:cNvSpPr>
          <p:nvPr/>
        </p:nvSpPr>
        <p:spPr>
          <a:xfrm xmlns:a="http://schemas.openxmlformats.org/drawingml/2006/main">
            <a:off x="8858250" y="2409825"/>
            <a:ext cx="2724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B64B35"/>
                </a:solidFill>
                <a:latin typeface="Helvetica Neue"/>
                <a:ea typeface="Helvetica Neue"/>
                <a:cs typeface="Helvetica Neue"/>
              </a:defRPr>
            </a:defPPr>
          </a:lstStyle>
          <a:p xmlns:a="http://schemas.openxmlformats.org/drawingml/2006/main">
            <a:pPr>
              <a:defRPr sz="4950" b="1">
                <a:solidFill>
                  <a:srgbClr val="B64B35"/>
                </a:solidFill>
                <a:latin typeface="Helvetica Neue"/>
                <a:ea typeface="Helvetica Neue"/>
                <a:cs typeface="Helvetica Neue"/>
              </a:defRPr>
            </a:pPr>
            <a:r>
              <a:rPr sz="4950" b="1">
                <a:solidFill>
                  <a:srgbClr val="B64B35"/>
                </a:solidFill>
                <a:latin typeface="Helvetica Neue"/>
                <a:ea typeface="Helvetica Neue"/>
                <a:cs typeface="Helvetica Neue"/>
              </a:rPr>
              <a:t>29.8%</a:t>
            </a:r>
          </a:p>
        </p:txBody>
      </p:sp>
      <p:sp>
        <p:nvSpPr>
          <p:cNvPr id="8" name="">
            <a:extLst xmlns:a="http://schemas.openxmlformats.org/drawingml/2006/main">
              <a:ext uri="{FF2B5EF4-FFF2-40B4-BE49-F238E27FC236}">
                <a16:creationId xmlns:a16="http://schemas.microsoft.com/office/drawing/2014/main" id="{40406D1F-AC23-425D-82D8-123CA10939FC}"/>
              </a:ext>
            </a:extLst>
          </p:cNvPr>
          <p:cNvSpPr>
            <a:spLocks xmlns:a="http://schemas.openxmlformats.org/drawingml/2006/main" noGrp="1"/>
          </p:cNvSpPr>
          <p:nvPr/>
        </p:nvSpPr>
        <p:spPr>
          <a:xfrm xmlns:a="http://schemas.openxmlformats.org/drawingml/2006/main">
            <a:off x="8858250" y="3400425"/>
            <a:ext cx="27241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Decline from 2015 to 2025</a:t>
            </a:r>
          </a:p>
        </p:txBody>
      </p:sp>
      <p:sp>
        <p:nvSpPr>
          <p:cNvPr id="9" name="">
            <a:extLst xmlns:a="http://schemas.openxmlformats.org/drawingml/2006/main">
              <a:ext uri="{FF2B5EF4-FFF2-40B4-BE49-F238E27FC236}">
                <a16:creationId xmlns:a16="http://schemas.microsoft.com/office/drawing/2014/main" id="{86421EA6-C4A0-4CC8-9C92-DDF80461F646}"/>
              </a:ext>
            </a:extLst>
          </p:cNvPr>
          <p:cNvSpPr>
            <a:spLocks xmlns:a="http://schemas.openxmlformats.org/drawingml/2006/main" noGrp="1"/>
          </p:cNvSpPr>
          <p:nvPr/>
        </p:nvSpPr>
        <p:spPr>
          <a:xfrm xmlns:a="http://schemas.openxmlformats.org/drawingml/2006/main">
            <a:off x="8858250" y="4543425"/>
            <a:ext cx="2724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1"/>
                </a:solidFill>
                <a:latin typeface="Helvetica Neue"/>
                <a:ea typeface="Helvetica Neue"/>
                <a:cs typeface="Helvetica Neue"/>
              </a:defRPr>
            </a:defPPr>
          </a:lstStyle>
          <a:p xmlns:a="http://schemas.openxmlformats.org/drawingml/2006/main">
            <a:pPr>
              <a:defRPr sz="1875" b="0">
                <a:solidFill>
                  <a:srgbClr val="526671"/>
                </a:solidFill>
                <a:latin typeface="Helvetica Neue"/>
                <a:ea typeface="Helvetica Neue"/>
                <a:cs typeface="Helvetica Neue"/>
              </a:defRPr>
            </a:pPr>
            <a:r>
              <a:rPr sz="1875" b="0">
                <a:solidFill>
                  <a:srgbClr val="526671"/>
                </a:solidFill>
                <a:latin typeface="Helvetica Neue"/>
                <a:ea typeface="Helvetica Neue"/>
                <a:cs typeface="Helvetica Neue"/>
              </a:rPr>
              <a:t>2025 crude birth rate: 6.5 per 1,000 residents</a:t>
            </a:r>
          </a:p>
        </p:txBody>
      </p:sp>
    </p:spTree>
    <p:extLst>
      <p:ext uri="{BB962C8B-B14F-4D97-AF65-F5344CB8AC3E}">
        <p14:creationId xmlns:p14="http://schemas.microsoft.com/office/powerpoint/2010/main" val="17440736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182697-5FF6-4161-AF57-A4263F6F6327}"/>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4A11FC0C-567F-4D14-B15F-9EBC160E3F13}"/>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Older-age fertility did not offset younger-age declines</a:t>
            </a:r>
          </a:p>
        </p:txBody>
      </p:sp>
      <p:sp>
        <p:nvSpPr>
          <p:cNvPr id="3" name="">
            <a:extLst xmlns:a="http://schemas.openxmlformats.org/drawingml/2006/main">
              <a:ext uri="{FF2B5EF4-FFF2-40B4-BE49-F238E27FC236}">
                <a16:creationId xmlns:a16="http://schemas.microsoft.com/office/drawing/2014/main" id="{F891AA71-5DF3-4EFF-B2B2-DAD3BAEEF8F0}"/>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Age-specific fertility rates, births per 1,000 women in each age group</a:t>
            </a:r>
          </a:p>
        </p:txBody>
      </p:sp>
      <p:sp>
        <p:nvSpPr>
          <p:cNvPr id="4" name="">
            <a:extLst xmlns:a="http://schemas.openxmlformats.org/drawingml/2006/main">
              <a:ext uri="{FF2B5EF4-FFF2-40B4-BE49-F238E27FC236}">
                <a16:creationId xmlns:a16="http://schemas.microsoft.com/office/drawing/2014/main" id="{E5A9990E-4E71-4440-8919-B64215B1E12B}"/>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DF4EE65E-B2F2-4C28-92E1-563A89A3FFCD}"/>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05</a:t>
            </a:r>
          </a:p>
        </p:txBody>
      </p:sp>
      <p:graphicFrame>
        <p:nvGraphicFramePr>
          <p:cNvPr id="6" name="Chart">
            <a:extLst xmlns:a="http://schemas.openxmlformats.org/drawingml/2006/main">
              <a:ext uri="{FF2B5EF4-FFF2-40B4-BE49-F238E27FC236}">
                <a16:creationId xmlns:a16="http://schemas.microsoft.com/office/drawing/2014/main" id="{49D321B5-940C-4DE6-A47B-BAEA514EFBFE}"/>
              </a:ext>
            </a:extLst>
          </p:cNvPr>
          <p:cNvGraphicFramePr/>
          <p:nvPr/>
        </p:nvGraphicFramePr>
        <p:xfrm>
          <a:off xmlns:a="http://schemas.openxmlformats.org/drawingml/2006/main" x="609600" y="23336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db0067e08e5445f6"/>
          </a:graphicData>
        </a:graphic>
      </p:graphicFrame>
      <p:sp>
        <p:nvSpPr>
          <p:cNvPr id="7" name="">
            <a:extLst xmlns:a="http://schemas.openxmlformats.org/drawingml/2006/main">
              <a:ext uri="{FF2B5EF4-FFF2-40B4-BE49-F238E27FC236}">
                <a16:creationId xmlns:a16="http://schemas.microsoft.com/office/drawing/2014/main" id="{7B6C32E6-5550-40C2-855A-92284E2256B5}"/>
              </a:ext>
            </a:extLst>
          </p:cNvPr>
          <p:cNvSpPr>
            <a:spLocks xmlns:a="http://schemas.openxmlformats.org/drawingml/2006/main" noGrp="1"/>
          </p:cNvSpPr>
          <p:nvPr/>
        </p:nvSpPr>
        <p:spPr>
          <a:xfrm xmlns:a="http://schemas.openxmlformats.org/drawingml/2006/main">
            <a:off x="609600" y="58102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1"/>
                </a:solidFill>
                <a:latin typeface="Helvetica Neue"/>
                <a:ea typeface="Helvetica Neue"/>
                <a:cs typeface="Helvetica Neue"/>
              </a:defRPr>
            </a:defPPr>
          </a:lstStyle>
          <a:p xmlns:a="http://schemas.openxmlformats.org/drawingml/2006/main">
            <a:pPr>
              <a:defRPr sz="1875" b="0">
                <a:solidFill>
                  <a:srgbClr val="526671"/>
                </a:solidFill>
                <a:latin typeface="Helvetica Neue"/>
                <a:ea typeface="Helvetica Neue"/>
                <a:cs typeface="Helvetica Neue"/>
              </a:defRPr>
            </a:pPr>
            <a:r>
              <a:rPr sz="1875" b="0">
                <a:solidFill>
                  <a:srgbClr val="526671"/>
                </a:solidFill>
                <a:latin typeface="Helvetica Neue"/>
                <a:ea typeface="Helvetica Neue"/>
                <a:cs typeface="Helvetica Neue"/>
              </a:rPr>
              <a:t>Aggregate age patterns cannot distinguish postponement from permanently fewer births.</a:t>
            </a:r>
          </a:p>
        </p:txBody>
      </p:sp>
    </p:spTree>
    <p:extLst>
      <p:ext uri="{BB962C8B-B14F-4D97-AF65-F5344CB8AC3E}">
        <p14:creationId xmlns:p14="http://schemas.microsoft.com/office/powerpoint/2010/main" val="374591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5ACDB3-075B-463B-BFE6-6CDB97DE0065}"/>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E81BEE0C-5B10-402A-A2F4-56BA42E8ACCD}"/>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Strong level correlations weaken in annual changes</a:t>
            </a:r>
          </a:p>
        </p:txBody>
      </p:sp>
      <p:sp>
        <p:nvSpPr>
          <p:cNvPr id="3" name="">
            <a:extLst xmlns:a="http://schemas.openxmlformats.org/drawingml/2006/main">
              <a:ext uri="{FF2B5EF4-FFF2-40B4-BE49-F238E27FC236}">
                <a16:creationId xmlns:a16="http://schemas.microsoft.com/office/drawing/2014/main" id="{BA63F1D2-5E89-49F1-8588-9C08FAEB2494}"/>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Pearson correlation with TFR. Levels: 21 years. Annual changes: 20 paired years.</a:t>
            </a:r>
          </a:p>
        </p:txBody>
      </p:sp>
      <p:sp>
        <p:nvSpPr>
          <p:cNvPr id="4" name="">
            <a:extLst xmlns:a="http://schemas.openxmlformats.org/drawingml/2006/main">
              <a:ext uri="{FF2B5EF4-FFF2-40B4-BE49-F238E27FC236}">
                <a16:creationId xmlns:a16="http://schemas.microsoft.com/office/drawing/2014/main" id="{D356831C-8BBF-4D66-AF91-D52BA90E769B}"/>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64B44658-5E27-4471-BC99-DF48D39B02F9}"/>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06</a:t>
            </a:r>
          </a:p>
        </p:txBody>
      </p:sp>
      <p:graphicFrame>
        <p:nvGraphicFramePr>
          <p:cNvPr id="6" name="Chart">
            <a:extLst xmlns:a="http://schemas.openxmlformats.org/drawingml/2006/main">
              <a:ext uri="{FF2B5EF4-FFF2-40B4-BE49-F238E27FC236}">
                <a16:creationId xmlns:a16="http://schemas.microsoft.com/office/drawing/2014/main" id="{7C09BC73-5677-469C-B357-1E0F4CC5968B}"/>
              </a:ext>
            </a:extLst>
          </p:cNvPr>
          <p:cNvGraphicFramePr/>
          <p:nvPr/>
        </p:nvGraphicFramePr>
        <p:xfrm>
          <a:off xmlns:a="http://schemas.openxmlformats.org/drawingml/2006/main" x="609600" y="2333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a94d0e8883d34686"/>
          </a:graphicData>
        </a:graphic>
      </p:graphicFrame>
      <p:sp>
        <p:nvSpPr>
          <p:cNvPr id="7" name="">
            <a:extLst xmlns:a="http://schemas.openxmlformats.org/drawingml/2006/main">
              <a:ext uri="{FF2B5EF4-FFF2-40B4-BE49-F238E27FC236}">
                <a16:creationId xmlns:a16="http://schemas.microsoft.com/office/drawing/2014/main" id="{7852F7CF-8089-4BE8-89FF-4946DAAA30B0}"/>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1"/>
                </a:solidFill>
                <a:latin typeface="Helvetica Neue"/>
                <a:ea typeface="Helvetica Neue"/>
                <a:cs typeface="Helvetica Neue"/>
              </a:defRPr>
            </a:defPPr>
          </a:lstStyle>
          <a:p xmlns:a="http://schemas.openxmlformats.org/drawingml/2006/main">
            <a:pPr>
              <a:defRPr sz="1800" b="0">
                <a:solidFill>
                  <a:srgbClr val="526671"/>
                </a:solidFill>
                <a:latin typeface="Helvetica Neue"/>
                <a:ea typeface="Helvetica Neue"/>
                <a:cs typeface="Helvetica Neue"/>
              </a:defRPr>
            </a:pPr>
            <a:r>
              <a:rPr sz="1800" b="0">
                <a:solidFill>
                  <a:srgbClr val="526671"/>
                </a:solidFill>
                <a:latin typeface="Helvetica Neue"/>
                <a:ea typeface="Helvetica Neue"/>
                <a:cs typeface="Helvetica Neue"/>
              </a:rPr>
              <a:t>Rail length: r = −0.870 in levels, compared with −0.042 in annual changes.</a:t>
            </a:r>
          </a:p>
        </p:txBody>
      </p:sp>
    </p:spTree>
    <p:extLst>
      <p:ext uri="{BB962C8B-B14F-4D97-AF65-F5344CB8AC3E}">
        <p14:creationId xmlns:p14="http://schemas.microsoft.com/office/powerpoint/2010/main" val="3364402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86FA1C-B460-4E9F-BAAA-234D684C7A54}"/>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A0BD0D5C-B124-41C3-AC73-CCA90B314DC2}"/>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Annual-change estimates remain uncertain</a:t>
            </a:r>
          </a:p>
        </p:txBody>
      </p:sp>
      <p:sp>
        <p:nvSpPr>
          <p:cNvPr id="3" name="">
            <a:extLst xmlns:a="http://schemas.openxmlformats.org/drawingml/2006/main">
              <a:ext uri="{FF2B5EF4-FFF2-40B4-BE49-F238E27FC236}">
                <a16:creationId xmlns:a16="http://schemas.microsoft.com/office/drawing/2014/main" id="{4A0A2E7D-EC3F-4A21-868F-9BDF33E5A595}"/>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Separate one-factor regressions. Outcome: annual TFR change in births per woman.</a:t>
            </a:r>
          </a:p>
        </p:txBody>
      </p:sp>
      <p:sp>
        <p:nvSpPr>
          <p:cNvPr id="4" name="">
            <a:extLst xmlns:a="http://schemas.openxmlformats.org/drawingml/2006/main">
              <a:ext uri="{FF2B5EF4-FFF2-40B4-BE49-F238E27FC236}">
                <a16:creationId xmlns:a16="http://schemas.microsoft.com/office/drawing/2014/main" id="{CF170DAD-242E-43AF-B504-DBDAB33A4724}"/>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03C221C1-1DF8-4B6B-94AA-30565D72BB85}"/>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7AD47DDE-0134-4A31-B1ED-DE6D1CF0B9BF}"/>
              </a:ext>
            </a:extLst>
          </p:cNvPr>
          <p:cNvGraphicFramePr/>
          <p:nvPr/>
        </p:nvGraphicFramePr>
        <p:xfrm>
          <a:off xmlns:a="http://schemas.openxmlformats.org/drawingml/2006/main" x="609600" y="2324100"/>
          <a:ext xmlns:a="http://schemas.openxmlformats.org/drawingml/2006/main" cx="10972800" cy="3419475"/>
        </p:xfrm>
        <a:graphic xmlns:a="http://schemas.openxmlformats.org/drawingml/2006/main">
          <a:graphicData uri="http://schemas.openxmlformats.org/drawingml/2006/table">
            <a:tbl>
              <a:tblPr firstRow="1" bandRow="0"/>
              <a:tblGrid>
                <a:gridCol w="3048000"/>
                <a:gridCol w="2114550"/>
                <a:gridCol w="3638550"/>
                <a:gridCol w="2171700"/>
              </a:tblGrid>
              <a:tr h="488496">
                <a:tc>
                  <a:txBody>
                    <a:bodyPr/>
                    <a:lstStyle/>
                    <a:p>
                      <a:r>
                        <a:rPr sz="1725" b="1">
                          <a:solidFill>
                            <a:srgbClr val="FFFFFF"/>
                          </a:solidFill>
                          <a:latin typeface="Helvetica Neue"/>
                          <a:ea typeface="Helvetica Neue"/>
                          <a:cs typeface="Helvetica Neue"/>
                        </a:rPr>
                        <a:t>Factor</a:t>
                      </a:r>
                    </a:p>
                  </a:txBody>
                  <a:tcPr marL="114300" marR="114300" marT="76200" marB="76200">
                    <a:lnL w="4763">
                      <a:solidFill>
                        <a:srgbClr val="DDE7EB"/>
                      </a:solidFill>
                      <a:prstDash val="solid"/>
                    </a:lnL>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Slope per unit</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95% HAC interval</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BH q</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r>
              <a:tr h="488496">
                <a:tc>
                  <a:txBody>
                    <a:bodyPr/>
                    <a:lstStyle/>
                    <a:p>
                      <a:r>
                        <a:rPr sz="1725">
                          <a:solidFill>
                            <a:srgbClr val="073B4C"/>
                          </a:solidFill>
                          <a:latin typeface="Helvetica Neue"/>
                          <a:ea typeface="Helvetica Neue"/>
                          <a:cs typeface="Helvetica Neue"/>
                        </a:rPr>
                        <a:t>Marriage rate</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0.0085</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0.0021 to 0.0148</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0.0545</a:t>
                      </a:r>
                    </a:p>
                  </a:txBody>
                  <a:tcPr marL="114300" marR="114300" marT="76200" marB="76200">
                    <a:lnR w="4763">
                      <a:solidFill>
                        <a:srgbClr val="DDE7EB"/>
                      </a:solidFill>
                      <a:prstDash val="solid"/>
                    </a:lnR>
                    <a:lnB w="4763">
                      <a:solidFill>
                        <a:srgbClr val="DDE7EB"/>
                      </a:solidFill>
                      <a:prstDash val="solid"/>
                    </a:lnB>
                  </a:tcPr>
                </a:tc>
              </a:tr>
              <a:tr h="488496">
                <a:tc>
                  <a:txBody>
                    <a:bodyPr/>
                    <a:lstStyle/>
                    <a:p>
                      <a:r>
                        <a:rPr sz="1725">
                          <a:solidFill>
                            <a:srgbClr val="073B4C"/>
                          </a:solidFill>
                          <a:latin typeface="Helvetica Neue"/>
                          <a:ea typeface="Helvetica Neue"/>
                          <a:cs typeface="Helvetica Neue"/>
                        </a:rPr>
                        <a:t>Consumer prices</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0.0013</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-0.0140 to 0.0165</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0.8704</a:t>
                      </a:r>
                    </a:p>
                  </a:txBody>
                  <a:tcPr marL="114300" marR="114300" marT="76200" marB="76200">
                    <a:lnR w="4763">
                      <a:solidFill>
                        <a:srgbClr val="DDE7EB"/>
                      </a:solidFill>
                      <a:prstDash val="solid"/>
                    </a:lnR>
                    <a:lnB w="4763">
                      <a:solidFill>
                        <a:srgbClr val="DDE7EB"/>
                      </a:solidFill>
                      <a:prstDash val="solid"/>
                    </a:lnB>
                  </a:tcPr>
                </a:tc>
              </a:tr>
              <a:tr h="488496">
                <a:tc>
                  <a:txBody>
                    <a:bodyPr/>
                    <a:lstStyle/>
                    <a:p>
                      <a:r>
                        <a:rPr sz="1725">
                          <a:solidFill>
                            <a:srgbClr val="073B4C"/>
                          </a:solidFill>
                          <a:latin typeface="Helvetica Neue"/>
                          <a:ea typeface="Helvetica Neue"/>
                          <a:cs typeface="Helvetica Neue"/>
                        </a:rPr>
                        <a:t>Accommodation prices</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0.0028</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-0.0034 to 0.0090</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0.6208</a:t>
                      </a:r>
                    </a:p>
                  </a:txBody>
                  <a:tcPr marL="114300" marR="114300" marT="76200" marB="76200">
                    <a:lnR w="4763">
                      <a:solidFill>
                        <a:srgbClr val="DDE7EB"/>
                      </a:solidFill>
                      <a:prstDash val="solid"/>
                    </a:lnR>
                    <a:lnB w="4763">
                      <a:solidFill>
                        <a:srgbClr val="DDE7EB"/>
                      </a:solidFill>
                      <a:prstDash val="solid"/>
                    </a:lnB>
                  </a:tcPr>
                </a:tc>
              </a:tr>
              <a:tr h="488496">
                <a:tc>
                  <a:txBody>
                    <a:bodyPr/>
                    <a:lstStyle/>
                    <a:p>
                      <a:r>
                        <a:rPr sz="1725">
                          <a:solidFill>
                            <a:srgbClr val="073B4C"/>
                          </a:solidFill>
                          <a:latin typeface="Helvetica Neue"/>
                          <a:ea typeface="Helvetica Neue"/>
                          <a:cs typeface="Helvetica Neue"/>
                        </a:rPr>
                        <a:t>Education prices</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0.0150</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-0.0025 to 0.0324</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0.2809</a:t>
                      </a:r>
                    </a:p>
                  </a:txBody>
                  <a:tcPr marL="114300" marR="114300" marT="76200" marB="76200">
                    <a:lnR w="4763">
                      <a:solidFill>
                        <a:srgbClr val="DDE7EB"/>
                      </a:solidFill>
                      <a:prstDash val="solid"/>
                    </a:lnR>
                    <a:lnB w="4763">
                      <a:solidFill>
                        <a:srgbClr val="DDE7EB"/>
                      </a:solidFill>
                      <a:prstDash val="solid"/>
                    </a:lnB>
                  </a:tcPr>
                </a:tc>
              </a:tr>
              <a:tr h="488496">
                <a:tc>
                  <a:txBody>
                    <a:bodyPr/>
                    <a:lstStyle/>
                    <a:p>
                      <a:r>
                        <a:rPr sz="1725">
                          <a:solidFill>
                            <a:srgbClr val="073B4C"/>
                          </a:solidFill>
                          <a:latin typeface="Helvetica Neue"/>
                          <a:ea typeface="Helvetica Neue"/>
                          <a:cs typeface="Helvetica Neue"/>
                        </a:rPr>
                        <a:t>Liabilities / assets</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0.0149</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-0.0209 to 0.0507</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0.6208</a:t>
                      </a:r>
                    </a:p>
                  </a:txBody>
                  <a:tcPr marL="114300" marR="114300" marT="76200" marB="76200">
                    <a:lnR w="4763">
                      <a:solidFill>
                        <a:srgbClr val="DDE7EB"/>
                      </a:solidFill>
                      <a:prstDash val="solid"/>
                    </a:lnR>
                    <a:lnB w="4763">
                      <a:solidFill>
                        <a:srgbClr val="DDE7EB"/>
                      </a:solidFill>
                      <a:prstDash val="solid"/>
                    </a:lnB>
                  </a:tcPr>
                </a:tc>
              </a:tr>
              <a:tr h="488496">
                <a:tc>
                  <a:txBody>
                    <a:bodyPr/>
                    <a:lstStyle/>
                    <a:p>
                      <a:r>
                        <a:rPr sz="1725">
                          <a:solidFill>
                            <a:srgbClr val="073B4C"/>
                          </a:solidFill>
                          <a:latin typeface="Helvetica Neue"/>
                          <a:ea typeface="Helvetica Neue"/>
                          <a:cs typeface="Helvetica Neue"/>
                        </a:rPr>
                        <a:t>Rail length</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-0.0003</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-0.0020 to 0.0014</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0.8704</a:t>
                      </a:r>
                    </a:p>
                  </a:txBody>
                  <a:tcPr marL="114300" marR="114300" marT="76200" marB="76200">
                    <a:lnR w="4763">
                      <a:solidFill>
                        <a:srgbClr val="DDE7EB"/>
                      </a:solidFill>
                      <a:prstDash val="solid"/>
                    </a:lnR>
                    <a:lnB w="4763">
                      <a:solidFill>
                        <a:srgbClr val="DDE7EB"/>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83029C80-D628-4B21-A7D7-777810B619BB}"/>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1"/>
                </a:solidFill>
                <a:latin typeface="Helvetica Neue"/>
                <a:ea typeface="Helvetica Neue"/>
                <a:cs typeface="Helvetica Neue"/>
              </a:defRPr>
            </a:defPPr>
          </a:lstStyle>
          <a:p xmlns:a="http://schemas.openxmlformats.org/drawingml/2006/main">
            <a:pPr>
              <a:defRPr sz="1800" b="0">
                <a:solidFill>
                  <a:srgbClr val="526671"/>
                </a:solidFill>
                <a:latin typeface="Helvetica Neue"/>
                <a:ea typeface="Helvetica Neue"/>
                <a:cs typeface="Helvetica Neue"/>
              </a:defRPr>
            </a:pPr>
            <a:r>
              <a:rPr sz="1800" b="0">
                <a:solidFill>
                  <a:srgbClr val="526671"/>
                </a:solidFill>
                <a:latin typeface="Helvetica Neue"/>
                <a:ea typeface="Helvetica Neue"/>
                <a:cs typeface="Helvetica Neue"/>
              </a:rPr>
              <a:t>No full-sample annual-change slope has adjusted q &lt; 0.05. Units differ across factors.</a:t>
            </a:r>
          </a:p>
        </p:txBody>
      </p:sp>
    </p:spTree>
    <p:extLst>
      <p:ext uri="{BB962C8B-B14F-4D97-AF65-F5344CB8AC3E}">
        <p14:creationId xmlns:p14="http://schemas.microsoft.com/office/powerpoint/2010/main" val="3681748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4217AB-0641-43EB-BC22-D7C740565469}"/>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78784D4F-C1AD-4204-A343-B6A6240AB270}"/>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Marriage formation is the clearest change association</a:t>
            </a:r>
          </a:p>
        </p:txBody>
      </p:sp>
      <p:sp>
        <p:nvSpPr>
          <p:cNvPr id="3" name="">
            <a:extLst xmlns:a="http://schemas.openxmlformats.org/drawingml/2006/main">
              <a:ext uri="{FF2B5EF4-FFF2-40B4-BE49-F238E27FC236}">
                <a16:creationId xmlns:a16="http://schemas.microsoft.com/office/drawing/2014/main" id="{2A6CEA44-7029-4284-8C7E-07980B55C6D7}"/>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4" name="">
            <a:extLst xmlns:a="http://schemas.openxmlformats.org/drawingml/2006/main">
              <a:ext uri="{FF2B5EF4-FFF2-40B4-BE49-F238E27FC236}">
                <a16:creationId xmlns:a16="http://schemas.microsoft.com/office/drawing/2014/main" id="{BDCBF540-5830-4113-A3F2-6111B3BB8B8A}"/>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1F21FA4-E2BC-4F9B-A27E-3413A3F5BE6E}"/>
              </a:ext>
            </a:extLst>
          </p:cNvPr>
          <p:cNvSpPr>
            <a:spLocks xmlns:a="http://schemas.openxmlformats.org/drawingml/2006/main" noGrp="1"/>
          </p:cNvSpPr>
          <p:nvPr/>
        </p:nvSpPr>
        <p:spPr>
          <a:xfrm xmlns:a="http://schemas.openxmlformats.org/drawingml/2006/main">
            <a:off x="609600" y="2238375"/>
            <a:ext cx="3524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73B4C"/>
                </a:solidFill>
                <a:latin typeface="Helvetica Neue"/>
                <a:ea typeface="Helvetica Neue"/>
                <a:cs typeface="Helvetica Neue"/>
              </a:defRPr>
            </a:defPPr>
          </a:lstStyle>
          <a:p xmlns:a="http://schemas.openxmlformats.org/drawingml/2006/main">
            <a:pPr>
              <a:defRPr sz="5700" b="1">
                <a:solidFill>
                  <a:srgbClr val="073B4C"/>
                </a:solidFill>
                <a:latin typeface="Helvetica Neue"/>
                <a:ea typeface="Helvetica Neue"/>
                <a:cs typeface="Helvetica Neue"/>
              </a:defRPr>
            </a:pPr>
            <a:r>
              <a:rPr sz="5700" b="1">
                <a:solidFill>
                  <a:srgbClr val="073B4C"/>
                </a:solidFill>
                <a:latin typeface="Helvetica Neue"/>
                <a:ea typeface="Helvetica Neue"/>
                <a:cs typeface="Helvetica Neue"/>
              </a:rPr>
              <a:t>+0.497</a:t>
            </a:r>
          </a:p>
        </p:txBody>
      </p:sp>
      <p:sp>
        <p:nvSpPr>
          <p:cNvPr id="6" name="">
            <a:extLst xmlns:a="http://schemas.openxmlformats.org/drawingml/2006/main">
              <a:ext uri="{FF2B5EF4-FFF2-40B4-BE49-F238E27FC236}">
                <a16:creationId xmlns:a16="http://schemas.microsoft.com/office/drawing/2014/main" id="{45C6BBDD-6A88-4F8A-8CF9-22C4FDC8A430}"/>
              </a:ext>
            </a:extLst>
          </p:cNvPr>
          <p:cNvSpPr>
            <a:spLocks xmlns:a="http://schemas.openxmlformats.org/drawingml/2006/main" noGrp="1"/>
          </p:cNvSpPr>
          <p:nvPr/>
        </p:nvSpPr>
        <p:spPr>
          <a:xfrm xmlns:a="http://schemas.openxmlformats.org/drawingml/2006/main">
            <a:off x="609600" y="3381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Annual-change correlation</a:t>
            </a:r>
          </a:p>
        </p:txBody>
      </p:sp>
      <p:sp>
        <p:nvSpPr>
          <p:cNvPr id="7" name="">
            <a:extLst xmlns:a="http://schemas.openxmlformats.org/drawingml/2006/main">
              <a:ext uri="{FF2B5EF4-FFF2-40B4-BE49-F238E27FC236}">
                <a16:creationId xmlns:a16="http://schemas.microsoft.com/office/drawing/2014/main" id="{266C78B7-8E68-4297-8238-CB830D853D38}"/>
              </a:ext>
            </a:extLst>
          </p:cNvPr>
          <p:cNvSpPr>
            <a:spLocks xmlns:a="http://schemas.openxmlformats.org/drawingml/2006/main" noGrp="1"/>
          </p:cNvSpPr>
          <p:nvPr/>
        </p:nvSpPr>
        <p:spPr>
          <a:xfrm xmlns:a="http://schemas.openxmlformats.org/drawingml/2006/main">
            <a:off x="609600" y="4638675"/>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B64B35"/>
                </a:solidFill>
                <a:latin typeface="Helvetica Neue"/>
                <a:ea typeface="Helvetica Neue"/>
                <a:cs typeface="Helvetica Neue"/>
              </a:defRPr>
            </a:defPPr>
          </a:lstStyle>
          <a:p xmlns:a="http://schemas.openxmlformats.org/drawingml/2006/main">
            <a:pPr>
              <a:defRPr sz="4350" b="1">
                <a:solidFill>
                  <a:srgbClr val="B64B35"/>
                </a:solidFill>
                <a:latin typeface="Helvetica Neue"/>
                <a:ea typeface="Helvetica Neue"/>
                <a:cs typeface="Helvetica Neue"/>
              </a:defRPr>
            </a:pPr>
            <a:r>
              <a:rPr sz="4350" b="1">
                <a:solidFill>
                  <a:srgbClr val="B64B35"/>
                </a:solidFill>
                <a:latin typeface="Helvetica Neue"/>
                <a:ea typeface="Helvetica Neue"/>
                <a:cs typeface="Helvetica Neue"/>
              </a:rPr>
              <a:t>0.0545</a:t>
            </a:r>
          </a:p>
        </p:txBody>
      </p:sp>
      <p:sp>
        <p:nvSpPr>
          <p:cNvPr id="8" name="">
            <a:extLst xmlns:a="http://schemas.openxmlformats.org/drawingml/2006/main">
              <a:ext uri="{FF2B5EF4-FFF2-40B4-BE49-F238E27FC236}">
                <a16:creationId xmlns:a16="http://schemas.microsoft.com/office/drawing/2014/main" id="{068874F0-3A98-4F8C-80B5-E7CC2CBE6B64}"/>
              </a:ext>
            </a:extLst>
          </p:cNvPr>
          <p:cNvSpPr>
            <a:spLocks xmlns:a="http://schemas.openxmlformats.org/drawingml/2006/main" noGrp="1"/>
          </p:cNvSpPr>
          <p:nvPr/>
        </p:nvSpPr>
        <p:spPr>
          <a:xfrm xmlns:a="http://schemas.openxmlformats.org/drawingml/2006/main">
            <a:off x="609600" y="558165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1"/>
                </a:solidFill>
                <a:latin typeface="Helvetica Neue"/>
                <a:ea typeface="Helvetica Neue"/>
                <a:cs typeface="Helvetica Neue"/>
              </a:defRPr>
            </a:defPPr>
          </a:lstStyle>
          <a:p xmlns:a="http://schemas.openxmlformats.org/drawingml/2006/main">
            <a:pPr>
              <a:defRPr sz="1875" b="0">
                <a:solidFill>
                  <a:srgbClr val="526671"/>
                </a:solidFill>
                <a:latin typeface="Helvetica Neue"/>
                <a:ea typeface="Helvetica Neue"/>
                <a:cs typeface="Helvetica Neue"/>
              </a:defRPr>
            </a:pPr>
            <a:r>
              <a:rPr sz="1875" b="0">
                <a:solidFill>
                  <a:srgbClr val="526671"/>
                </a:solidFill>
                <a:latin typeface="Helvetica Neue"/>
                <a:ea typeface="Helvetica Neue"/>
                <a:cs typeface="Helvetica Neue"/>
              </a:rPr>
              <a:t>Adjusted full-sample q</a:t>
            </a:r>
          </a:p>
        </p:txBody>
      </p:sp>
      <p:sp>
        <p:nvSpPr>
          <p:cNvPr id="9" name="">
            <a:extLst xmlns:a="http://schemas.openxmlformats.org/drawingml/2006/main">
              <a:ext uri="{FF2B5EF4-FFF2-40B4-BE49-F238E27FC236}">
                <a16:creationId xmlns:a16="http://schemas.microsoft.com/office/drawing/2014/main" id="{55816055-25F0-4E9F-A361-E27CBD9E4BBF}"/>
              </a:ext>
            </a:extLst>
          </p:cNvPr>
          <p:cNvSpPr>
            <a:spLocks xmlns:a="http://schemas.openxmlformats.org/drawingml/2006/main" noGrp="1"/>
          </p:cNvSpPr>
          <p:nvPr/>
        </p:nvSpPr>
        <p:spPr>
          <a:xfrm xmlns:a="http://schemas.openxmlformats.org/drawingml/2006/main">
            <a:off x="4629150" y="2314575"/>
            <a:ext cx="69532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3B4C"/>
                </a:solidFill>
                <a:latin typeface="Helvetica Neue"/>
                <a:ea typeface="Helvetica Neue"/>
                <a:cs typeface="Helvetica Neue"/>
              </a:defRPr>
            </a:defPPr>
          </a:lstStyle>
          <a:p xmlns:a="http://schemas.openxmlformats.org/drawingml/2006/main">
            <a:pPr>
              <a:defRPr sz="2325" b="1">
                <a:solidFill>
                  <a:srgbClr val="073B4C"/>
                </a:solidFill>
                <a:latin typeface="Helvetica Neue"/>
                <a:ea typeface="Helvetica Neue"/>
                <a:cs typeface="Helvetica Neue"/>
              </a:defRPr>
            </a:pPr>
            <a:r>
              <a:rPr sz="2325" b="1">
                <a:solidFill>
                  <a:srgbClr val="073B4C"/>
                </a:solidFill>
                <a:latin typeface="Helvetica Neue"/>
                <a:ea typeface="Helvetica Neue"/>
                <a:cs typeface="Helvetica Neue"/>
              </a:rPr>
              <a:t>The association strengthens when pandemic years are excluded: r = +0.623 across 17 paired changes.</a:t>
            </a:r>
          </a:p>
        </p:txBody>
      </p:sp>
      <p:sp>
        <p:nvSpPr>
          <p:cNvPr id="10" name="">
            <a:extLst xmlns:a="http://schemas.openxmlformats.org/drawingml/2006/main">
              <a:ext uri="{FF2B5EF4-FFF2-40B4-BE49-F238E27FC236}">
                <a16:creationId xmlns:a16="http://schemas.microsoft.com/office/drawing/2014/main" id="{DA61CB03-23C9-4DD0-B4E5-B885FEB82410}"/>
              </a:ext>
            </a:extLst>
          </p:cNvPr>
          <p:cNvSpPr>
            <a:spLocks xmlns:a="http://schemas.openxmlformats.org/drawingml/2006/main" noGrp="1"/>
          </p:cNvSpPr>
          <p:nvPr/>
        </p:nvSpPr>
        <p:spPr>
          <a:xfrm xmlns:a="http://schemas.openxmlformats.org/drawingml/2006/main">
            <a:off x="4629150" y="3857625"/>
            <a:ext cx="6953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671"/>
                </a:solidFill>
                <a:latin typeface="Helvetica Neue"/>
                <a:ea typeface="Helvetica Neue"/>
                <a:cs typeface="Helvetica Neue"/>
              </a:defRPr>
            </a:defPPr>
          </a:lstStyle>
          <a:p xmlns:a="http://schemas.openxmlformats.org/drawingml/2006/main">
            <a:pPr>
              <a:defRPr sz="2175" b="0">
                <a:solidFill>
                  <a:srgbClr val="526671"/>
                </a:solidFill>
                <a:latin typeface="Helvetica Neue"/>
                <a:ea typeface="Helvetica Neue"/>
                <a:cs typeface="Helvetica Neue"/>
              </a:defRPr>
            </a:pPr>
            <a:r>
              <a:rPr sz="2175" b="0">
                <a:solidFill>
                  <a:srgbClr val="526671"/>
                </a:solidFill>
                <a:latin typeface="Helvetica Neue"/>
                <a:ea typeface="Helvetica Neue"/>
                <a:cs typeface="Helvetica Neue"/>
              </a:rPr>
              <a:t>The full sample remains borderline. Same-year observations and omitted factors prevent a causal explanation.</a:t>
            </a:r>
          </a:p>
        </p:txBody>
      </p:sp>
      <p:sp>
        <p:nvSpPr>
          <p:cNvPr id="11" name="">
            <a:extLst xmlns:a="http://schemas.openxmlformats.org/drawingml/2006/main">
              <a:ext uri="{FF2B5EF4-FFF2-40B4-BE49-F238E27FC236}">
                <a16:creationId xmlns:a16="http://schemas.microsoft.com/office/drawing/2014/main" id="{5C8C8143-C1FC-459B-B19E-C346083D8B11}"/>
              </a:ext>
            </a:extLst>
          </p:cNvPr>
          <p:cNvSpPr>
            <a:spLocks xmlns:a="http://schemas.openxmlformats.org/drawingml/2006/main" noGrp="1"/>
          </p:cNvSpPr>
          <p:nvPr/>
        </p:nvSpPr>
        <p:spPr>
          <a:xfrm xmlns:a="http://schemas.openxmlformats.org/drawingml/2006/main">
            <a:off x="4629150" y="5238750"/>
            <a:ext cx="695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Next evidence: marriage age, intentions and transitions to first and subsequent births.</a:t>
            </a:r>
          </a:p>
        </p:txBody>
      </p:sp>
    </p:spTree>
    <p:extLst>
      <p:ext uri="{BB962C8B-B14F-4D97-AF65-F5344CB8AC3E}">
        <p14:creationId xmlns:p14="http://schemas.microsoft.com/office/powerpoint/2010/main" val="911792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489739-A0E4-45B6-BC4F-25F90B836BB8}"/>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18B8D032-B9FD-4C2F-B17E-5526EF648ECD}"/>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The model offers little improvement over persistence</a:t>
            </a:r>
          </a:p>
        </p:txBody>
      </p:sp>
      <p:sp>
        <p:nvSpPr>
          <p:cNvPr id="3" name="">
            <a:extLst xmlns:a="http://schemas.openxmlformats.org/drawingml/2006/main">
              <a:ext uri="{FF2B5EF4-FFF2-40B4-BE49-F238E27FC236}">
                <a16:creationId xmlns:a16="http://schemas.microsoft.com/office/drawing/2014/main" id="{AB8AF2CF-FCCF-466F-8BD1-92EFB3627F9F}"/>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Retrospective one-year-ahead backtest, 2021–2025. Error units: births per woman.</a:t>
            </a:r>
          </a:p>
        </p:txBody>
      </p:sp>
      <p:sp>
        <p:nvSpPr>
          <p:cNvPr id="4" name="">
            <a:extLst xmlns:a="http://schemas.openxmlformats.org/drawingml/2006/main">
              <a:ext uri="{FF2B5EF4-FFF2-40B4-BE49-F238E27FC236}">
                <a16:creationId xmlns:a16="http://schemas.microsoft.com/office/drawing/2014/main" id="{0CE2B78C-2CCC-4635-ABAA-E94CB4982F3E}"/>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6F2C54B2-E3EC-4E5A-B8ED-4301E6DD9FFA}"/>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990120E0-4008-43B3-B90D-047AD3EF2B38}"/>
              </a:ext>
            </a:extLst>
          </p:cNvPr>
          <p:cNvGraphicFramePr/>
          <p:nvPr/>
        </p:nvGraphicFramePr>
        <p:xfrm>
          <a:off xmlns:a="http://schemas.openxmlformats.org/drawingml/2006/main" x="609600" y="2314575"/>
          <a:ext xmlns:a="http://schemas.openxmlformats.org/drawingml/2006/main" cx="10972800" cy="2286000"/>
        </p:xfrm>
        <a:graphic xmlns:a="http://schemas.openxmlformats.org/drawingml/2006/main">
          <a:graphicData uri="http://schemas.openxmlformats.org/drawingml/2006/table">
            <a:tbl>
              <a:tblPr firstRow="1" bandRow="0"/>
              <a:tblGrid>
                <a:gridCol w="5143500"/>
                <a:gridCol w="2914650"/>
                <a:gridCol w="2914650"/>
              </a:tblGrid>
              <a:tr h="571500">
                <a:tc>
                  <a:txBody>
                    <a:bodyPr/>
                    <a:lstStyle/>
                    <a:p>
                      <a:r>
                        <a:rPr sz="2025" b="1">
                          <a:solidFill>
                            <a:srgbClr val="FFFFFF"/>
                          </a:solidFill>
                          <a:latin typeface="Helvetica Neue"/>
                          <a:ea typeface="Helvetica Neue"/>
                          <a:cs typeface="Helvetica Neue"/>
                        </a:rPr>
                        <a:t>Model</a:t>
                      </a:r>
                    </a:p>
                  </a:txBody>
                  <a:tcPr marL="114300" marR="114300" marT="76200" marB="76200">
                    <a:lnL w="4763">
                      <a:solidFill>
                        <a:srgbClr val="DDE7EB"/>
                      </a:solidFill>
                      <a:prstDash val="solid"/>
                    </a:lnL>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2025" b="1">
                          <a:solidFill>
                            <a:srgbClr val="FFFFFF"/>
                          </a:solidFill>
                          <a:latin typeface="Helvetica Neue"/>
                          <a:ea typeface="Helvetica Neue"/>
                          <a:cs typeface="Helvetica Neue"/>
                        </a:rPr>
                        <a:t>Mean absolute error</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2025" b="1">
                          <a:solidFill>
                            <a:srgbClr val="FFFFFF"/>
                          </a:solidFill>
                          <a:latin typeface="Helvetica Neue"/>
                          <a:ea typeface="Helvetica Neue"/>
                          <a:cs typeface="Helvetica Neue"/>
                        </a:rPr>
                        <a:t>RMSE</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r>
              <a:tr h="571500">
                <a:tc>
                  <a:txBody>
                    <a:bodyPr/>
                    <a:lstStyle/>
                    <a:p>
                      <a:r>
                        <a:rPr sz="2025">
                          <a:solidFill>
                            <a:srgbClr val="073B4C"/>
                          </a:solidFill>
                          <a:latin typeface="Helvetica Neue"/>
                          <a:ea typeface="Helvetica Neue"/>
                          <a:cs typeface="Helvetica Neue"/>
                        </a:rPr>
                        <a:t>Persistence</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0.0540</a:t>
                      </a:r>
                    </a:p>
                  </a:txBody>
                  <a:tcPr marL="114300" marR="114300" marT="76200" marB="76200">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0.0659</a:t>
                      </a:r>
                    </a:p>
                  </a:txBody>
                  <a:tcPr marL="114300" marR="114300" marT="76200" marB="76200">
                    <a:lnR w="4763">
                      <a:solidFill>
                        <a:srgbClr val="DDE7EB"/>
                      </a:solidFill>
                      <a:prstDash val="solid"/>
                    </a:lnR>
                    <a:lnB w="4763">
                      <a:solidFill>
                        <a:srgbClr val="DDE7EB"/>
                      </a:solidFill>
                      <a:prstDash val="solid"/>
                    </a:lnB>
                  </a:tcPr>
                </a:tc>
              </a:tr>
              <a:tr h="571500">
                <a:tc>
                  <a:txBody>
                    <a:bodyPr/>
                    <a:lstStyle/>
                    <a:p>
                      <a:r>
                        <a:rPr sz="2025">
                          <a:solidFill>
                            <a:srgbClr val="073B4C"/>
                          </a:solidFill>
                          <a:latin typeface="Helvetica Neue"/>
                          <a:ea typeface="Helvetica Neue"/>
                          <a:cs typeface="Helvetica Neue"/>
                        </a:rPr>
                        <a:t>Linear trend</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0.0891</a:t>
                      </a:r>
                    </a:p>
                  </a:txBody>
                  <a:tcPr marL="114300" marR="114300" marT="76200" marB="76200">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0.1013</a:t>
                      </a:r>
                    </a:p>
                  </a:txBody>
                  <a:tcPr marL="114300" marR="114300" marT="76200" marB="76200">
                    <a:lnR w="4763">
                      <a:solidFill>
                        <a:srgbClr val="DDE7EB"/>
                      </a:solidFill>
                      <a:prstDash val="solid"/>
                    </a:lnR>
                    <a:lnB w="4763">
                      <a:solidFill>
                        <a:srgbClr val="DDE7EB"/>
                      </a:solidFill>
                      <a:prstDash val="solid"/>
                    </a:lnB>
                  </a:tcPr>
                </a:tc>
              </a:tr>
              <a:tr h="571500">
                <a:tc>
                  <a:txBody>
                    <a:bodyPr/>
                    <a:lstStyle/>
                    <a:p>
                      <a:r>
                        <a:rPr sz="2025">
                          <a:solidFill>
                            <a:srgbClr val="073B4C"/>
                          </a:solidFill>
                          <a:latin typeface="Helvetica Neue"/>
                          <a:ea typeface="Helvetica Neue"/>
                          <a:cs typeface="Helvetica Neue"/>
                        </a:rPr>
                        <a:t>Six-factor ridge + time</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0.0516</a:t>
                      </a:r>
                    </a:p>
                  </a:txBody>
                  <a:tcPr marL="114300" marR="114300" marT="76200" marB="76200">
                    <a:lnR w="4763">
                      <a:solidFill>
                        <a:srgbClr val="DDE7EB"/>
                      </a:solidFill>
                      <a:prstDash val="solid"/>
                    </a:lnR>
                    <a:lnB w="4763">
                      <a:solidFill>
                        <a:srgbClr val="DDE7EB"/>
                      </a:solidFill>
                      <a:prstDash val="solid"/>
                    </a:lnB>
                  </a:tcPr>
                </a:tc>
                <a:tc>
                  <a:txBody>
                    <a:bodyPr/>
                    <a:lstStyle/>
                    <a:p>
                      <a:r>
                        <a:rPr sz="2025">
                          <a:solidFill>
                            <a:srgbClr val="073B4C"/>
                          </a:solidFill>
                          <a:latin typeface="Helvetica Neue"/>
                          <a:ea typeface="Helvetica Neue"/>
                          <a:cs typeface="Helvetica Neue"/>
                        </a:rPr>
                        <a:t>0.0611</a:t>
                      </a:r>
                    </a:p>
                  </a:txBody>
                  <a:tcPr marL="114300" marR="114300" marT="76200" marB="76200">
                    <a:lnR w="4763">
                      <a:solidFill>
                        <a:srgbClr val="DDE7EB"/>
                      </a:solidFill>
                      <a:prstDash val="solid"/>
                    </a:lnR>
                    <a:lnB w="4763">
                      <a:solidFill>
                        <a:srgbClr val="DDE7EB"/>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12E5E300-7B5D-4325-8D56-C3A3A84B25E5}"/>
              </a:ext>
            </a:extLst>
          </p:cNvPr>
          <p:cNvSpPr>
            <a:spLocks xmlns:a="http://schemas.openxmlformats.org/drawingml/2006/main" noGrp="1"/>
          </p:cNvSpPr>
          <p:nvPr/>
        </p:nvSpPr>
        <p:spPr>
          <a:xfrm xmlns:a="http://schemas.openxmlformats.org/drawingml/2006/main">
            <a:off x="609600" y="48768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3B4C"/>
                </a:solidFill>
                <a:latin typeface="Helvetica Neue"/>
                <a:ea typeface="Helvetica Neue"/>
                <a:cs typeface="Helvetica Neue"/>
              </a:defRPr>
            </a:defPPr>
          </a:lstStyle>
          <a:p xmlns:a="http://schemas.openxmlformats.org/drawingml/2006/main">
            <a:pPr>
              <a:defRPr sz="2325" b="1">
                <a:solidFill>
                  <a:srgbClr val="073B4C"/>
                </a:solidFill>
                <a:latin typeface="Helvetica Neue"/>
                <a:ea typeface="Helvetica Neue"/>
                <a:cs typeface="Helvetica Neue"/>
              </a:defRPr>
            </a:pPr>
            <a:r>
              <a:rPr sz="2325" b="1">
                <a:solidFill>
                  <a:srgbClr val="073B4C"/>
                </a:solidFill>
                <a:latin typeface="Helvetica Neue"/>
                <a:ea typeface="Helvetica Neue"/>
                <a:cs typeface="Helvetica Neue"/>
              </a:rPr>
              <a:t>Ridge improves MAE by about 4.4%, or 0.0024 births per woman.</a:t>
            </a:r>
          </a:p>
        </p:txBody>
      </p:sp>
      <p:sp>
        <p:nvSpPr>
          <p:cNvPr id="8" name="">
            <a:extLst xmlns:a="http://schemas.openxmlformats.org/drawingml/2006/main">
              <a:ext uri="{FF2B5EF4-FFF2-40B4-BE49-F238E27FC236}">
                <a16:creationId xmlns:a16="http://schemas.microsoft.com/office/drawing/2014/main" id="{616BA701-CCDB-4721-BD1C-3A906416639D}"/>
              </a:ext>
            </a:extLst>
          </p:cNvPr>
          <p:cNvSpPr>
            <a:spLocks xmlns:a="http://schemas.openxmlformats.org/drawingml/2006/main" noGrp="1"/>
          </p:cNvSpPr>
          <p:nvPr/>
        </p:nvSpPr>
        <p:spPr>
          <a:xfrm xmlns:a="http://schemas.openxmlformats.org/drawingml/2006/main">
            <a:off x="609600" y="56102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671"/>
                </a:solidFill>
                <a:latin typeface="Helvetica Neue"/>
                <a:ea typeface="Helvetica Neue"/>
                <a:cs typeface="Helvetica Neue"/>
              </a:defRPr>
            </a:defPPr>
          </a:lstStyle>
          <a:p xmlns:a="http://schemas.openxmlformats.org/drawingml/2006/main">
            <a:pPr>
              <a:defRPr sz="2100" b="0">
                <a:solidFill>
                  <a:srgbClr val="526671"/>
                </a:solidFill>
                <a:latin typeface="Helvetica Neue"/>
                <a:ea typeface="Helvetica Neue"/>
                <a:cs typeface="Helvetica Neue"/>
              </a:defRPr>
            </a:pPr>
            <a:r>
              <a:rPr sz="2100" b="0">
                <a:solidFill>
                  <a:srgbClr val="526671"/>
                </a:solidFill>
                <a:latin typeface="Helvetica Neue"/>
                <a:ea typeface="Helvetica Neue"/>
                <a:cs typeface="Helvetica Neue"/>
              </a:rPr>
              <a:t>Five test years and revised snapshots do not establish reliable forecasting performance.</a:t>
            </a:r>
          </a:p>
        </p:txBody>
      </p:sp>
    </p:spTree>
    <p:extLst>
      <p:ext uri="{BB962C8B-B14F-4D97-AF65-F5344CB8AC3E}">
        <p14:creationId xmlns:p14="http://schemas.microsoft.com/office/powerpoint/2010/main" val="1099284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92699F-8015-4C6B-ADD1-EB9CBD639AFA}"/>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5A5E8EDF-E4B9-4309-BDF6-9D6322764C61}"/>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Policy priorities focus on constraints and evaluation</a:t>
            </a:r>
          </a:p>
        </p:txBody>
      </p:sp>
      <p:sp>
        <p:nvSpPr>
          <p:cNvPr id="3" name="">
            <a:extLst xmlns:a="http://schemas.openxmlformats.org/drawingml/2006/main">
              <a:ext uri="{FF2B5EF4-FFF2-40B4-BE49-F238E27FC236}">
                <a16:creationId xmlns:a16="http://schemas.microsoft.com/office/drawing/2014/main" id="{E98AB7A8-D029-4FDD-ABB0-FCEC75BDD2C1}"/>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4" name="">
            <a:extLst xmlns:a="http://schemas.openxmlformats.org/drawingml/2006/main">
              <a:ext uri="{FF2B5EF4-FFF2-40B4-BE49-F238E27FC236}">
                <a16:creationId xmlns:a16="http://schemas.microsoft.com/office/drawing/2014/main" id="{6D281611-F72D-4B93-AD9F-929BB50CC586}"/>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14B30D0-9244-481F-B40B-A4DE1BA64519}"/>
              </a:ext>
            </a:extLst>
          </p:cNvPr>
          <p:cNvSpPr>
            <a:spLocks xmlns:a="http://schemas.openxmlformats.org/drawingml/2006/main" noGrp="1"/>
          </p:cNvSpPr>
          <p:nvPr/>
        </p:nvSpPr>
        <p:spPr>
          <a:xfrm xmlns:a="http://schemas.openxmlformats.org/drawingml/2006/main">
            <a:off x="609600" y="21431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Family formation</a:t>
            </a:r>
          </a:p>
        </p:txBody>
      </p:sp>
      <p:sp>
        <p:nvSpPr>
          <p:cNvPr id="6" name="">
            <a:extLst xmlns:a="http://schemas.openxmlformats.org/drawingml/2006/main">
              <a:ext uri="{FF2B5EF4-FFF2-40B4-BE49-F238E27FC236}">
                <a16:creationId xmlns:a16="http://schemas.microsoft.com/office/drawing/2014/main" id="{BEE97ECF-9ED4-4FA8-8477-8DBA4A3195EC}"/>
              </a:ext>
            </a:extLst>
          </p:cNvPr>
          <p:cNvSpPr>
            <a:spLocks xmlns:a="http://schemas.openxmlformats.org/drawingml/2006/main" noGrp="1"/>
          </p:cNvSpPr>
          <p:nvPr/>
        </p:nvSpPr>
        <p:spPr>
          <a:xfrm xmlns:a="http://schemas.openxmlformats.org/drawingml/2006/main">
            <a:off x="3810000" y="21431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NPTD and research partners: investigate marriage timing, intentions and first-birth transitions.</a:t>
            </a:r>
          </a:p>
        </p:txBody>
      </p:sp>
      <p:sp>
        <p:nvSpPr>
          <p:cNvPr id="7" name="">
            <a:extLst xmlns:a="http://schemas.openxmlformats.org/drawingml/2006/main">
              <a:ext uri="{FF2B5EF4-FFF2-40B4-BE49-F238E27FC236}">
                <a16:creationId xmlns:a16="http://schemas.microsoft.com/office/drawing/2014/main" id="{3A932125-7B20-4876-8510-3EA2640F1712}"/>
              </a:ext>
            </a:extLst>
          </p:cNvPr>
          <p:cNvSpPr>
            <a:spLocks xmlns:a="http://schemas.openxmlformats.org/drawingml/2006/main" noGrp="1"/>
          </p:cNvSpPr>
          <p:nvPr/>
        </p:nvSpPr>
        <p:spPr>
          <a:xfrm xmlns:a="http://schemas.openxmlformats.org/drawingml/2006/main">
            <a:off x="609600" y="33813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Housing and caregiving</a:t>
            </a:r>
          </a:p>
        </p:txBody>
      </p:sp>
      <p:sp>
        <p:nvSpPr>
          <p:cNvPr id="8" name="">
            <a:extLst xmlns:a="http://schemas.openxmlformats.org/drawingml/2006/main">
              <a:ext uri="{FF2B5EF4-FFF2-40B4-BE49-F238E27FC236}">
                <a16:creationId xmlns:a16="http://schemas.microsoft.com/office/drawing/2014/main" id="{BD1113BE-40D4-4409-A655-30BBA76975B8}"/>
              </a:ext>
            </a:extLst>
          </p:cNvPr>
          <p:cNvSpPr>
            <a:spLocks xmlns:a="http://schemas.openxmlformats.org/drawingml/2006/main" noGrp="1"/>
          </p:cNvSpPr>
          <p:nvPr/>
        </p:nvSpPr>
        <p:spPr>
          <a:xfrm xmlns:a="http://schemas.openxmlformats.org/drawingml/2006/main">
            <a:off x="3810000" y="338137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HDB, ECDA and MOM: measure costs relative to income, waiting times, childcare access and work constraints.</a:t>
            </a:r>
          </a:p>
        </p:txBody>
      </p:sp>
      <p:sp>
        <p:nvSpPr>
          <p:cNvPr id="9" name="">
            <a:extLst xmlns:a="http://schemas.openxmlformats.org/drawingml/2006/main">
              <a:ext uri="{FF2B5EF4-FFF2-40B4-BE49-F238E27FC236}">
                <a16:creationId xmlns:a16="http://schemas.microsoft.com/office/drawing/2014/main" id="{F30FB295-35BC-435A-BC21-427B2B7021E5}"/>
              </a:ext>
            </a:extLst>
          </p:cNvPr>
          <p:cNvSpPr>
            <a:spLocks xmlns:a="http://schemas.openxmlformats.org/drawingml/2006/main" noGrp="1"/>
          </p:cNvSpPr>
          <p:nvPr/>
        </p:nvSpPr>
        <p:spPr>
          <a:xfrm xmlns:a="http://schemas.openxmlformats.org/drawingml/2006/main">
            <a:off x="609600" y="46196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Financial resilience</a:t>
            </a:r>
          </a:p>
        </p:txBody>
      </p:sp>
      <p:sp>
        <p:nvSpPr>
          <p:cNvPr id="10" name="">
            <a:extLst xmlns:a="http://schemas.openxmlformats.org/drawingml/2006/main">
              <a:ext uri="{FF2B5EF4-FFF2-40B4-BE49-F238E27FC236}">
                <a16:creationId xmlns:a16="http://schemas.microsoft.com/office/drawing/2014/main" id="{C72F4C65-D0EE-4A5E-87B8-3D1B2B770258}"/>
              </a:ext>
            </a:extLst>
          </p:cNvPr>
          <p:cNvSpPr>
            <a:spLocks xmlns:a="http://schemas.openxmlformats.org/drawingml/2006/main" noGrp="1"/>
          </p:cNvSpPr>
          <p:nvPr/>
        </p:nvSpPr>
        <p:spPr>
          <a:xfrm xmlns:a="http://schemas.openxmlformats.org/drawingml/2006/main">
            <a:off x="3810000" y="46196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DOS and data partners: segment debt service and savings by age and income before targeting support.</a:t>
            </a:r>
          </a:p>
        </p:txBody>
      </p:sp>
    </p:spTree>
    <p:extLst>
      <p:ext uri="{BB962C8B-B14F-4D97-AF65-F5344CB8AC3E}">
        <p14:creationId xmlns:p14="http://schemas.microsoft.com/office/powerpoint/2010/main" val="1414251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6FB324-0AC9-468F-B039-1170386D8AFB}"/>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5D6BEDF6-4955-409C-BCD1-509CEDF4DE2B}"/>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Demographic implications need a separate projection</a:t>
            </a:r>
          </a:p>
        </p:txBody>
      </p:sp>
      <p:sp>
        <p:nvSpPr>
          <p:cNvPr id="3" name="">
            <a:extLst xmlns:a="http://schemas.openxmlformats.org/drawingml/2006/main">
              <a:ext uri="{FF2B5EF4-FFF2-40B4-BE49-F238E27FC236}">
                <a16:creationId xmlns:a16="http://schemas.microsoft.com/office/drawing/2014/main" id="{AC329ACF-361D-4620-82F7-97E0C214207A}"/>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4" name="">
            <a:extLst xmlns:a="http://schemas.openxmlformats.org/drawingml/2006/main">
              <a:ext uri="{FF2B5EF4-FFF2-40B4-BE49-F238E27FC236}">
                <a16:creationId xmlns:a16="http://schemas.microsoft.com/office/drawing/2014/main" id="{A3F7788D-E95E-4FDB-8F91-82C25F58BA55}"/>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40ECEE9-AB1E-4FC4-8969-0CC03BE2CB64}"/>
              </a:ext>
            </a:extLst>
          </p:cNvPr>
          <p:cNvSpPr>
            <a:spLocks xmlns:a="http://schemas.openxmlformats.org/drawingml/2006/main" noGrp="1"/>
          </p:cNvSpPr>
          <p:nvPr/>
        </p:nvSpPr>
        <p:spPr>
          <a:xfrm xmlns:a="http://schemas.openxmlformats.org/drawingml/2006/main">
            <a:off x="609600" y="21431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Future workforce</a:t>
            </a:r>
          </a:p>
        </p:txBody>
      </p:sp>
      <p:sp>
        <p:nvSpPr>
          <p:cNvPr id="6" name="">
            <a:extLst xmlns:a="http://schemas.openxmlformats.org/drawingml/2006/main">
              <a:ext uri="{FF2B5EF4-FFF2-40B4-BE49-F238E27FC236}">
                <a16:creationId xmlns:a16="http://schemas.microsoft.com/office/drawing/2014/main" id="{F3F45AEC-CCB1-402E-B463-115E12B01F94}"/>
              </a:ext>
            </a:extLst>
          </p:cNvPr>
          <p:cNvSpPr>
            <a:spLocks xmlns:a="http://schemas.openxmlformats.org/drawingml/2006/main" noGrp="1"/>
          </p:cNvSpPr>
          <p:nvPr/>
        </p:nvSpPr>
        <p:spPr>
          <a:xfrm xmlns:a="http://schemas.openxmlformats.org/drawingml/2006/main">
            <a:off x="3810000" y="21431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Persistent low fertility can change workforce supply and the balance of family care responsibilities.</a:t>
            </a:r>
          </a:p>
        </p:txBody>
      </p:sp>
      <p:sp>
        <p:nvSpPr>
          <p:cNvPr id="7" name="">
            <a:extLst xmlns:a="http://schemas.openxmlformats.org/drawingml/2006/main">
              <a:ext uri="{FF2B5EF4-FFF2-40B4-BE49-F238E27FC236}">
                <a16:creationId xmlns:a16="http://schemas.microsoft.com/office/drawing/2014/main" id="{C677F900-5D1E-499E-BCA7-88A4A3C0BCD6}"/>
              </a:ext>
            </a:extLst>
          </p:cNvPr>
          <p:cNvSpPr>
            <a:spLocks xmlns:a="http://schemas.openxmlformats.org/drawingml/2006/main" noGrp="1"/>
          </p:cNvSpPr>
          <p:nvPr/>
        </p:nvSpPr>
        <p:spPr>
          <a:xfrm xmlns:a="http://schemas.openxmlformats.org/drawingml/2006/main">
            <a:off x="609600" y="33813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Service planning</a:t>
            </a:r>
          </a:p>
        </p:txBody>
      </p:sp>
      <p:sp>
        <p:nvSpPr>
          <p:cNvPr id="8" name="">
            <a:extLst xmlns:a="http://schemas.openxmlformats.org/drawingml/2006/main">
              <a:ext uri="{FF2B5EF4-FFF2-40B4-BE49-F238E27FC236}">
                <a16:creationId xmlns:a16="http://schemas.microsoft.com/office/drawing/2014/main" id="{9B4AE77F-21BA-4548-8562-C33709861845}"/>
              </a:ext>
            </a:extLst>
          </p:cNvPr>
          <p:cNvSpPr>
            <a:spLocks xmlns:a="http://schemas.openxmlformats.org/drawingml/2006/main" noGrp="1"/>
          </p:cNvSpPr>
          <p:nvPr/>
        </p:nvSpPr>
        <p:spPr>
          <a:xfrm xmlns:a="http://schemas.openxmlformats.org/drawingml/2006/main">
            <a:off x="3810000" y="338137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School, childcare and age-related service demand require age- and location-specific planning.</a:t>
            </a:r>
          </a:p>
        </p:txBody>
      </p:sp>
      <p:sp>
        <p:nvSpPr>
          <p:cNvPr id="9" name="">
            <a:extLst xmlns:a="http://schemas.openxmlformats.org/drawingml/2006/main">
              <a:ext uri="{FF2B5EF4-FFF2-40B4-BE49-F238E27FC236}">
                <a16:creationId xmlns:a16="http://schemas.microsoft.com/office/drawing/2014/main" id="{80DBA46F-8522-45B8-A30D-CF34C22B9F46}"/>
              </a:ext>
            </a:extLst>
          </p:cNvPr>
          <p:cNvSpPr>
            <a:spLocks xmlns:a="http://schemas.openxmlformats.org/drawingml/2006/main" noGrp="1"/>
          </p:cNvSpPr>
          <p:nvPr/>
        </p:nvSpPr>
        <p:spPr>
          <a:xfrm xmlns:a="http://schemas.openxmlformats.org/drawingml/2006/main">
            <a:off x="609600" y="46196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Evidence still needed</a:t>
            </a:r>
          </a:p>
        </p:txBody>
      </p:sp>
      <p:sp>
        <p:nvSpPr>
          <p:cNvPr id="10" name="">
            <a:extLst xmlns:a="http://schemas.openxmlformats.org/drawingml/2006/main">
              <a:ext uri="{FF2B5EF4-FFF2-40B4-BE49-F238E27FC236}">
                <a16:creationId xmlns:a16="http://schemas.microsoft.com/office/drawing/2014/main" id="{01DFAA1A-0306-42FF-BE56-1C4BEB80607B}"/>
              </a:ext>
            </a:extLst>
          </p:cNvPr>
          <p:cNvSpPr>
            <a:spLocks xmlns:a="http://schemas.openxmlformats.org/drawingml/2006/main" noGrp="1"/>
          </p:cNvSpPr>
          <p:nvPr/>
        </p:nvSpPr>
        <p:spPr>
          <a:xfrm xmlns:a="http://schemas.openxmlformats.org/drawingml/2006/main">
            <a:off x="3810000" y="46196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Age structure, mortality, migration and cohort assumptions are required to quantify demographic and fiscal effects.</a:t>
            </a:r>
          </a:p>
        </p:txBody>
      </p:sp>
    </p:spTree>
    <p:extLst>
      <p:ext uri="{BB962C8B-B14F-4D97-AF65-F5344CB8AC3E}">
        <p14:creationId xmlns:p14="http://schemas.microsoft.com/office/powerpoint/2010/main" val="21029917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2AF1B3-333D-42D5-8EBD-EB7677A0DD95}"/>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265D1FF4-D2C0-40E8-A29F-15DEB39EEA55}"/>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Twelve-month implementation programme</a:t>
            </a:r>
          </a:p>
        </p:txBody>
      </p:sp>
      <p:sp>
        <p:nvSpPr>
          <p:cNvPr id="3" name="">
            <a:extLst xmlns:a="http://schemas.openxmlformats.org/drawingml/2006/main">
              <a:ext uri="{FF2B5EF4-FFF2-40B4-BE49-F238E27FC236}">
                <a16:creationId xmlns:a16="http://schemas.microsoft.com/office/drawing/2014/main" id="{11F624C5-D0B7-4304-8A90-FE2E1D62F3C9}"/>
              </a:ext>
            </a:extLst>
          </p:cNvPr>
          <p:cNvSpPr>
            <a:spLocks xmlns:a="http://schemas.openxmlformats.org/drawingml/2006/main" noGrp="1"/>
          </p:cNvSpPr>
          <p:nvPr/>
        </p:nvSpPr>
        <p:spPr>
          <a:xfrm xmlns:a="http://schemas.openxmlformats.org/drawingml/2006/main">
            <a:off x="609600" y="1609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1"/>
                </a:solidFill>
                <a:latin typeface="Helvetica Neue"/>
                <a:ea typeface="Helvetica Neue"/>
                <a:cs typeface="Helvetica Neue"/>
              </a:defRPr>
            </a:defPPr>
          </a:lstStyle>
          <a:p xmlns:a="http://schemas.openxmlformats.org/drawingml/2006/main">
            <a:pPr>
              <a:defRPr sz="1725" b="0">
                <a:solidFill>
                  <a:srgbClr val="526671"/>
                </a:solidFill>
                <a:latin typeface="Helvetica Neue"/>
                <a:ea typeface="Helvetica Neue"/>
                <a:cs typeface="Helvetica Neue"/>
              </a:defRPr>
            </a:pPr>
            <a:r>
              <a:rPr sz="1725" b="0">
                <a:solidFill>
                  <a:srgbClr val="526671"/>
                </a:solidFill>
                <a:latin typeface="Helvetica Neue"/>
                <a:ea typeface="Helvetica Neue"/>
                <a:cs typeface="Helvetica Neue"/>
              </a:rPr>
              <a:t>Proposed timetable. Fertility outcomes require longer follow-up.</a:t>
            </a:r>
          </a:p>
        </p:txBody>
      </p:sp>
      <p:sp>
        <p:nvSpPr>
          <p:cNvPr id="4" name="">
            <a:extLst xmlns:a="http://schemas.openxmlformats.org/drawingml/2006/main">
              <a:ext uri="{FF2B5EF4-FFF2-40B4-BE49-F238E27FC236}">
                <a16:creationId xmlns:a16="http://schemas.microsoft.com/office/drawing/2014/main" id="{2B7FBA05-E00F-4BD4-BB03-9310773584DD}"/>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5" name="">
            <a:extLst xmlns:a="http://schemas.openxmlformats.org/drawingml/2006/main">
              <a:ext uri="{FF2B5EF4-FFF2-40B4-BE49-F238E27FC236}">
                <a16:creationId xmlns:a16="http://schemas.microsoft.com/office/drawing/2014/main" id="{6EA85709-00AF-48DD-A5E4-2821D7CF4027}"/>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12</a:t>
            </a:r>
          </a:p>
        </p:txBody>
      </p:sp>
      <p:graphicFrame>
        <p:nvGraphicFramePr>
          <p:cNvPr id="6" name="">
            <a:extLst xmlns:a="http://schemas.openxmlformats.org/drawingml/2006/main">
              <a:ext uri="{FF2B5EF4-FFF2-40B4-BE49-F238E27FC236}">
                <a16:creationId xmlns:a16="http://schemas.microsoft.com/office/drawing/2014/main" id="{2F7B4A24-2470-4730-B324-B9A56E1DC72A}"/>
              </a:ext>
            </a:extLst>
          </p:cNvPr>
          <p:cNvGraphicFramePr/>
          <p:nvPr/>
        </p:nvGraphicFramePr>
        <p:xfrm>
          <a:off xmlns:a="http://schemas.openxmlformats.org/drawingml/2006/main" x="609600" y="2314575"/>
          <a:ext xmlns:a="http://schemas.openxmlformats.org/drawingml/2006/main" cx="10972800" cy="3286125"/>
        </p:xfrm>
        <a:graphic xmlns:a="http://schemas.openxmlformats.org/drawingml/2006/main">
          <a:graphicData uri="http://schemas.openxmlformats.org/drawingml/2006/table">
            <a:tbl>
              <a:tblPr firstRow="1" bandRow="0"/>
              <a:tblGrid>
                <a:gridCol w="2190750"/>
                <a:gridCol w="4000500"/>
                <a:gridCol w="4781550"/>
              </a:tblGrid>
              <a:tr h="547688">
                <a:tc>
                  <a:txBody>
                    <a:bodyPr/>
                    <a:lstStyle/>
                    <a:p>
                      <a:r>
                        <a:rPr sz="1725" b="1">
                          <a:solidFill>
                            <a:srgbClr val="FFFFFF"/>
                          </a:solidFill>
                          <a:latin typeface="Helvetica Neue"/>
                          <a:ea typeface="Helvetica Neue"/>
                          <a:cs typeface="Helvetica Neue"/>
                        </a:rPr>
                        <a:t>Period</a:t>
                      </a:r>
                    </a:p>
                  </a:txBody>
                  <a:tcPr marL="114300" marR="114300" marT="76200" marB="76200">
                    <a:lnL w="4763">
                      <a:solidFill>
                        <a:srgbClr val="DDE7EB"/>
                      </a:solidFill>
                      <a:prstDash val="solid"/>
                    </a:lnL>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Deliverable</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c>
                  <a:txBody>
                    <a:bodyPr/>
                    <a:lstStyle/>
                    <a:p>
                      <a:r>
                        <a:rPr sz="1725" b="1">
                          <a:solidFill>
                            <a:srgbClr val="FFFFFF"/>
                          </a:solidFill>
                          <a:latin typeface="Helvetica Neue"/>
                          <a:ea typeface="Helvetica Neue"/>
                          <a:cs typeface="Helvetica Neue"/>
                        </a:rPr>
                        <a:t>Acceptance measure</a:t>
                      </a:r>
                    </a:p>
                  </a:txBody>
                  <a:tcPr marL="114300" marR="114300" marT="76200" marB="76200">
                    <a:lnR w="4763">
                      <a:solidFill>
                        <a:srgbClr val="DDE7EB"/>
                      </a:solidFill>
                      <a:prstDash val="solid"/>
                    </a:lnR>
                    <a:lnT w="4763">
                      <a:solidFill>
                        <a:srgbClr val="DDE7EB"/>
                      </a:solidFill>
                      <a:prstDash val="solid"/>
                    </a:lnT>
                    <a:lnB w="4763">
                      <a:solidFill>
                        <a:srgbClr val="DDE7EB"/>
                      </a:solidFill>
                      <a:prstDash val="solid"/>
                    </a:lnB>
                    <a:solidFill>
                      <a:srgbClr val="073B4C"/>
                    </a:solidFill>
                  </a:tcPr>
                </a:tc>
              </a:tr>
              <a:tr h="547688">
                <a:tc>
                  <a:txBody>
                    <a:bodyPr/>
                    <a:lstStyle/>
                    <a:p>
                      <a:r>
                        <a:rPr sz="1725">
                          <a:solidFill>
                            <a:srgbClr val="073B4C"/>
                          </a:solidFill>
                          <a:latin typeface="Helvetica Neue"/>
                          <a:ea typeface="Helvetica Neue"/>
                          <a:cs typeface="Helvetica Neue"/>
                        </a:rPr>
                        <a:t>Months 1–2</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Definitions and data access</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Named owners and agreed measures</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Months 3–4</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Validated data and dashboard</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Coverage audit and reproducibility</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Months 5–6</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Pilot evaluation protocol</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Baseline and comparison strategy</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Months 7–9</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Rollout and communication</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Uptake and delivery tracking</a:t>
                      </a:r>
                    </a:p>
                  </a:txBody>
                  <a:tcPr marL="114300" marR="114300" marT="76200" marB="76200">
                    <a:lnR w="4763">
                      <a:solidFill>
                        <a:srgbClr val="DDE7EB"/>
                      </a:solidFill>
                      <a:prstDash val="solid"/>
                    </a:lnR>
                    <a:lnB w="4763">
                      <a:solidFill>
                        <a:srgbClr val="DDE7EB"/>
                      </a:solidFill>
                      <a:prstDash val="solid"/>
                    </a:lnB>
                  </a:tcPr>
                </a:tc>
              </a:tr>
              <a:tr h="547688">
                <a:tc>
                  <a:txBody>
                    <a:bodyPr/>
                    <a:lstStyle/>
                    <a:p>
                      <a:r>
                        <a:rPr sz="1725">
                          <a:solidFill>
                            <a:srgbClr val="073B4C"/>
                          </a:solidFill>
                          <a:latin typeface="Helvetica Neue"/>
                          <a:ea typeface="Helvetica Neue"/>
                          <a:cs typeface="Helvetica Neue"/>
                        </a:rPr>
                        <a:t>Months 10–12</a:t>
                      </a:r>
                    </a:p>
                  </a:txBody>
                  <a:tcPr marL="114300" marR="114300" marT="76200" marB="76200">
                    <a:lnL w="4763">
                      <a:solidFill>
                        <a:srgbClr val="DDE7EB"/>
                      </a:solidFill>
                      <a:prstDash val="solid"/>
                    </a:lnL>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Early evaluation</a:t>
                      </a:r>
                    </a:p>
                  </a:txBody>
                  <a:tcPr marL="114300" marR="114300" marT="76200" marB="76200">
                    <a:lnR w="4763">
                      <a:solidFill>
                        <a:srgbClr val="DDE7EB"/>
                      </a:solidFill>
                      <a:prstDash val="solid"/>
                    </a:lnR>
                    <a:lnB w="4763">
                      <a:solidFill>
                        <a:srgbClr val="DDE7EB"/>
                      </a:solidFill>
                      <a:prstDash val="solid"/>
                    </a:lnB>
                  </a:tcPr>
                </a:tc>
                <a:tc>
                  <a:txBody>
                    <a:bodyPr/>
                    <a:lstStyle/>
                    <a:p>
                      <a:r>
                        <a:rPr sz="1725">
                          <a:solidFill>
                            <a:srgbClr val="073B4C"/>
                          </a:solidFill>
                          <a:latin typeface="Helvetica Neue"/>
                          <a:ea typeface="Helvetica Neue"/>
                          <a:cs typeface="Helvetica Neue"/>
                        </a:rPr>
                        <a:t>Burden, cost and feasibility report</a:t>
                      </a:r>
                    </a:p>
                  </a:txBody>
                  <a:tcPr marL="114300" marR="114300" marT="76200" marB="76200">
                    <a:lnR w="4763">
                      <a:solidFill>
                        <a:srgbClr val="DDE7EB"/>
                      </a:solidFill>
                      <a:prstDash val="solid"/>
                    </a:lnR>
                    <a:lnB w="4763">
                      <a:solidFill>
                        <a:srgbClr val="DDE7EB"/>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1EDF3122-E4E1-4FDB-8346-C0A173F74274}"/>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1"/>
                </a:solidFill>
                <a:latin typeface="Helvetica Neue"/>
                <a:ea typeface="Helvetica Neue"/>
                <a:cs typeface="Helvetica Neue"/>
              </a:defRPr>
            </a:defPPr>
          </a:lstStyle>
          <a:p xmlns:a="http://schemas.openxmlformats.org/drawingml/2006/main">
            <a:pPr>
              <a:defRPr sz="1800" b="0">
                <a:solidFill>
                  <a:srgbClr val="526671"/>
                </a:solidFill>
                <a:latin typeface="Helvetica Neue"/>
                <a:ea typeface="Helvetica Neue"/>
                <a:cs typeface="Helvetica Neue"/>
              </a:defRPr>
            </a:pPr>
            <a:r>
              <a:rPr sz="1800" b="0">
                <a:solidFill>
                  <a:srgbClr val="526671"/>
                </a:solidFill>
                <a:latin typeface="Helvetica Neue"/>
                <a:ea typeface="Helvetica Neue"/>
                <a:cs typeface="Helvetica Neue"/>
              </a:rPr>
              <a:t>Government sponsorship, agency alignment and public uptake underpin the programme.</a:t>
            </a:r>
          </a:p>
        </p:txBody>
      </p:sp>
    </p:spTree>
    <p:extLst>
      <p:ext uri="{BB962C8B-B14F-4D97-AF65-F5344CB8AC3E}">
        <p14:creationId xmlns:p14="http://schemas.microsoft.com/office/powerpoint/2010/main" val="7114346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3FDCD7-A627-4836-8ED9-81FA1912CE08}"/>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526671"/>
                </a:solidFill>
                <a:latin typeface="Helvetica Neue"/>
                <a:ea typeface="Helvetica Neue"/>
                <a:cs typeface="Helvetica Neue"/>
              </a:defRPr>
            </a:defPPr>
          </a:lstStyle>
          <a:p xmlns:a="http://schemas.openxmlformats.org/drawingml/2006/main">
            <a:pPr>
              <a:defRPr sz="1275" b="1">
                <a:solidFill>
                  <a:srgbClr val="526671"/>
                </a:solidFill>
                <a:latin typeface="Helvetica Neue"/>
                <a:ea typeface="Helvetica Neue"/>
                <a:cs typeface="Helvetica Neue"/>
              </a:defRPr>
            </a:pPr>
            <a:r>
              <a:rPr sz="1275" b="1">
                <a:solidFill>
                  <a:srgbClr val="526671"/>
                </a:solidFill>
                <a:latin typeface="Helvetica Neue"/>
                <a:ea typeface="Helvetica Neue"/>
                <a:cs typeface="Helvetica Neue"/>
              </a:rPr>
              <a:t>SINGAPORE FERTILITY</a:t>
            </a:r>
          </a:p>
        </p:txBody>
      </p:sp>
      <p:sp>
        <p:nvSpPr>
          <p:cNvPr id="2" name="">
            <a:extLst xmlns:a="http://schemas.openxmlformats.org/drawingml/2006/main">
              <a:ext uri="{FF2B5EF4-FFF2-40B4-BE49-F238E27FC236}">
                <a16:creationId xmlns:a16="http://schemas.microsoft.com/office/drawing/2014/main" id="{54D8A95E-4408-49A6-A994-4D261226D790}"/>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3B4C"/>
                </a:solidFill>
                <a:latin typeface="Helvetica Neue"/>
                <a:ea typeface="Helvetica Neue"/>
                <a:cs typeface="Helvetica Neue"/>
              </a:defRPr>
            </a:defPPr>
          </a:lstStyle>
          <a:p xmlns:a="http://schemas.openxmlformats.org/drawingml/2006/main">
            <a:pPr>
              <a:defRPr sz="3225" b="1">
                <a:solidFill>
                  <a:srgbClr val="073B4C"/>
                </a:solidFill>
                <a:latin typeface="Helvetica Neue"/>
                <a:ea typeface="Helvetica Neue"/>
                <a:cs typeface="Helvetica Neue"/>
              </a:defRPr>
            </a:pPr>
            <a:r>
              <a:rPr sz="3225" b="1">
                <a:solidFill>
                  <a:srgbClr val="073B4C"/>
                </a:solidFill>
                <a:latin typeface="Helvetica Neue"/>
                <a:ea typeface="Helvetica Neue"/>
                <a:cs typeface="Helvetica Neue"/>
              </a:rPr>
              <a:t>Interactive exploration and next evidence priorities</a:t>
            </a:r>
          </a:p>
        </p:txBody>
      </p:sp>
      <p:sp>
        <p:nvSpPr>
          <p:cNvPr id="3" name="">
            <a:extLst xmlns:a="http://schemas.openxmlformats.org/drawingml/2006/main">
              <a:ext uri="{FF2B5EF4-FFF2-40B4-BE49-F238E27FC236}">
                <a16:creationId xmlns:a16="http://schemas.microsoft.com/office/drawing/2014/main" id="{F781F6C9-8DAE-4189-8A2D-7B4589BAB7B3}"/>
              </a:ext>
            </a:extLst>
          </p:cNvPr>
          <p:cNvSpPr>
            <a:spLocks xmlns:a="http://schemas.openxmlformats.org/drawingml/2006/main" noGrp="1"/>
          </p:cNvSpPr>
          <p:nvPr/>
        </p:nvSpPr>
        <p:spPr>
          <a:xfrm xmlns:a="http://schemas.openxmlformats.org/drawingml/2006/main">
            <a:off x="609600" y="64865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Government export snapshots through 2025. Independent academic analysis.</a:t>
            </a:r>
          </a:p>
        </p:txBody>
      </p:sp>
      <p:sp>
        <p:nvSpPr>
          <p:cNvPr id="4" name="">
            <a:extLst xmlns:a="http://schemas.openxmlformats.org/drawingml/2006/main">
              <a:ext uri="{FF2B5EF4-FFF2-40B4-BE49-F238E27FC236}">
                <a16:creationId xmlns:a16="http://schemas.microsoft.com/office/drawing/2014/main" id="{700E791D-C855-4B60-B18D-E6DD35470921}"/>
              </a:ext>
            </a:extLst>
          </p:cNvPr>
          <p:cNvSpPr>
            <a:spLocks xmlns:a="http://schemas.openxmlformats.org/drawingml/2006/main" noGrp="1"/>
          </p:cNvSpPr>
          <p:nvPr/>
        </p:nvSpPr>
        <p:spPr>
          <a:xfrm xmlns:a="http://schemas.openxmlformats.org/drawingml/2006/main">
            <a:off x="11049000" y="64865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671"/>
                </a:solidFill>
                <a:latin typeface="Helvetica Neue"/>
                <a:ea typeface="Helvetica Neue"/>
                <a:cs typeface="Helvetica Neue"/>
              </a:defRPr>
            </a:defPPr>
          </a:lstStyle>
          <a:p xmlns:a="http://schemas.openxmlformats.org/drawingml/2006/main">
            <a:pPr>
              <a:defRPr sz="1050" b="0">
                <a:solidFill>
                  <a:srgbClr val="526671"/>
                </a:solidFill>
                <a:latin typeface="Helvetica Neue"/>
                <a:ea typeface="Helvetica Neue"/>
                <a:cs typeface="Helvetica Neue"/>
              </a:defRPr>
            </a:pPr>
            <a:r>
              <a:rPr sz="1050" b="0">
                <a:solidFill>
                  <a:srgbClr val="526671"/>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C8CA94D-679A-4B10-80C0-F98256C2231A}"/>
              </a:ext>
            </a:extLst>
          </p:cNvPr>
          <p:cNvSpPr>
            <a:spLocks xmlns:a="http://schemas.openxmlformats.org/drawingml/2006/main" noGrp="1"/>
          </p:cNvSpPr>
          <p:nvPr/>
        </p:nvSpPr>
        <p:spPr>
          <a:xfrm xmlns:a="http://schemas.openxmlformats.org/drawingml/2006/main">
            <a:off x="609600" y="21431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Live demonstration</a:t>
            </a:r>
          </a:p>
        </p:txBody>
      </p:sp>
      <p:sp>
        <p:nvSpPr>
          <p:cNvPr id="6" name="">
            <a:extLst xmlns:a="http://schemas.openxmlformats.org/drawingml/2006/main">
              <a:ext uri="{FF2B5EF4-FFF2-40B4-BE49-F238E27FC236}">
                <a16:creationId xmlns:a16="http://schemas.microsoft.com/office/drawing/2014/main" id="{6DBADAC5-0C19-4AD6-9C5C-A9E4E4368E4D}"/>
              </a:ext>
            </a:extLst>
          </p:cNvPr>
          <p:cNvSpPr>
            <a:spLocks xmlns:a="http://schemas.openxmlformats.org/drawingml/2006/main" noGrp="1"/>
          </p:cNvSpPr>
          <p:nvPr/>
        </p:nvSpPr>
        <p:spPr>
          <a:xfrm xmlns:a="http://schemas.openxmlformats.org/drawingml/2006/main">
            <a:off x="3810000" y="21431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Compare rail length in levels and annual changes. Inspect marriage, then show the model baselines.</a:t>
            </a:r>
          </a:p>
        </p:txBody>
      </p:sp>
      <p:sp>
        <p:nvSpPr>
          <p:cNvPr id="7" name="">
            <a:extLst xmlns:a="http://schemas.openxmlformats.org/drawingml/2006/main">
              <a:ext uri="{FF2B5EF4-FFF2-40B4-BE49-F238E27FC236}">
                <a16:creationId xmlns:a16="http://schemas.microsoft.com/office/drawing/2014/main" id="{216B3FE7-ADD3-4E5C-A240-430B1448FF6E}"/>
              </a:ext>
            </a:extLst>
          </p:cNvPr>
          <p:cNvSpPr>
            <a:spLocks xmlns:a="http://schemas.openxmlformats.org/drawingml/2006/main" noGrp="1"/>
          </p:cNvSpPr>
          <p:nvPr/>
        </p:nvSpPr>
        <p:spPr>
          <a:xfrm xmlns:a="http://schemas.openxmlformats.org/drawingml/2006/main">
            <a:off x="609600" y="33813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Source transparency</a:t>
            </a:r>
          </a:p>
        </p:txBody>
      </p:sp>
      <p:sp>
        <p:nvSpPr>
          <p:cNvPr id="8" name="">
            <a:extLst xmlns:a="http://schemas.openxmlformats.org/drawingml/2006/main">
              <a:ext uri="{FF2B5EF4-FFF2-40B4-BE49-F238E27FC236}">
                <a16:creationId xmlns:a16="http://schemas.microsoft.com/office/drawing/2014/main" id="{2C18FF88-9523-48AA-B2CD-DC77E358ABA8}"/>
              </a:ext>
            </a:extLst>
          </p:cNvPr>
          <p:cNvSpPr>
            <a:spLocks xmlns:a="http://schemas.openxmlformats.org/drawingml/2006/main" noGrp="1"/>
          </p:cNvSpPr>
          <p:nvPr/>
        </p:nvSpPr>
        <p:spPr>
          <a:xfrm xmlns:a="http://schemas.openxmlformats.org/drawingml/2006/main">
            <a:off x="3810000" y="338137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Review factor definitions, source links, coverage and CSV downloads in the dashboard.</a:t>
            </a:r>
          </a:p>
        </p:txBody>
      </p:sp>
      <p:sp>
        <p:nvSpPr>
          <p:cNvPr id="9" name="">
            <a:extLst xmlns:a="http://schemas.openxmlformats.org/drawingml/2006/main">
              <a:ext uri="{FF2B5EF4-FFF2-40B4-BE49-F238E27FC236}">
                <a16:creationId xmlns:a16="http://schemas.microsoft.com/office/drawing/2014/main" id="{76511145-DD7A-464F-95ED-5F0AA6AD5232}"/>
              </a:ext>
            </a:extLst>
          </p:cNvPr>
          <p:cNvSpPr>
            <a:spLocks xmlns:a="http://schemas.openxmlformats.org/drawingml/2006/main" noGrp="1"/>
          </p:cNvSpPr>
          <p:nvPr/>
        </p:nvSpPr>
        <p:spPr>
          <a:xfrm xmlns:a="http://schemas.openxmlformats.org/drawingml/2006/main">
            <a:off x="609600" y="46196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73B4C"/>
                </a:solidFill>
                <a:latin typeface="Helvetica Neue"/>
                <a:ea typeface="Helvetica Neue"/>
                <a:cs typeface="Helvetica Neue"/>
              </a:defRPr>
            </a:defPPr>
          </a:lstStyle>
          <a:p xmlns:a="http://schemas.openxmlformats.org/drawingml/2006/main">
            <a:pPr>
              <a:defRPr sz="2025" b="1">
                <a:solidFill>
                  <a:srgbClr val="073B4C"/>
                </a:solidFill>
                <a:latin typeface="Helvetica Neue"/>
                <a:ea typeface="Helvetica Neue"/>
                <a:cs typeface="Helvetica Neue"/>
              </a:defRPr>
            </a:pPr>
            <a:r>
              <a:rPr sz="2025" b="1">
                <a:solidFill>
                  <a:srgbClr val="073B4C"/>
                </a:solidFill>
                <a:latin typeface="Helvetica Neue"/>
                <a:ea typeface="Helvetica Neue"/>
                <a:cs typeface="Helvetica Neue"/>
              </a:rPr>
              <a:t>Next data priorities</a:t>
            </a:r>
          </a:p>
        </p:txBody>
      </p:sp>
      <p:sp>
        <p:nvSpPr>
          <p:cNvPr id="10" name="">
            <a:extLst xmlns:a="http://schemas.openxmlformats.org/drawingml/2006/main">
              <a:ext uri="{FF2B5EF4-FFF2-40B4-BE49-F238E27FC236}">
                <a16:creationId xmlns:a16="http://schemas.microsoft.com/office/drawing/2014/main" id="{70566C0C-9FA6-42A4-90F4-A606F9D2DF2D}"/>
              </a:ext>
            </a:extLst>
          </p:cNvPr>
          <p:cNvSpPr>
            <a:spLocks xmlns:a="http://schemas.openxmlformats.org/drawingml/2006/main" noGrp="1"/>
          </p:cNvSpPr>
          <p:nvPr/>
        </p:nvSpPr>
        <p:spPr>
          <a:xfrm xmlns:a="http://schemas.openxmlformats.org/drawingml/2006/main">
            <a:off x="3810000" y="4619625"/>
            <a:ext cx="7772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1"/>
                </a:solidFill>
                <a:latin typeface="Helvetica Neue"/>
                <a:ea typeface="Helvetica Neue"/>
                <a:cs typeface="Helvetica Neue"/>
              </a:defRPr>
            </a:defPPr>
          </a:lstStyle>
          <a:p xmlns:a="http://schemas.openxmlformats.org/drawingml/2006/main">
            <a:pPr>
              <a:defRPr sz="2025" b="0">
                <a:solidFill>
                  <a:srgbClr val="526671"/>
                </a:solidFill>
                <a:latin typeface="Helvetica Neue"/>
                <a:ea typeface="Helvetica Neue"/>
                <a:cs typeface="Helvetica Neue"/>
              </a:defRPr>
            </a:pPr>
            <a:r>
              <a:rPr sz="2025" b="0">
                <a:solidFill>
                  <a:srgbClr val="526671"/>
                </a:solidFill>
                <a:latin typeface="Helvetica Neue"/>
                <a:ea typeface="Helvetica Neue"/>
                <a:cs typeface="Helvetica Neue"/>
              </a:rPr>
              <a:t>Add employment, income, housing affordability, net childcare fees, work schedules and family intentions.</a:t>
            </a:r>
          </a:p>
        </p:txBody>
      </p:sp>
    </p:spTree>
    <p:extLst>
      <p:ext uri="{BB962C8B-B14F-4D97-AF65-F5344CB8AC3E}">
        <p14:creationId xmlns:p14="http://schemas.microsoft.com/office/powerpoint/2010/main" val="729855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2026-10-12T15:45:33.4880000Z</dcterms:created>
  <dcterms:modified xsi:type="dcterms:W3CDTF">2026-10-12T15:45:33.4880000Z</dcterms:modified>
</coreProperties>
</file>